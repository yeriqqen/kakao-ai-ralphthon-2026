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16b46f6b7e4d5f" /><Relationship Type="http://schemas.openxmlformats.org/officeDocument/2006/relationships/extended-properties" Target="/docProps/app.xml" Id="Re9c9033d43e8482a" /><Relationship Type="http://schemas.openxmlformats.org/officeDocument/2006/relationships/officeDocument" Target="/ppt/presentation.xml" Id="Ra8724cb9551a42b1" /></Relationships>
</file>

<file path=ppt/presentation.xml><?xml version="1.0" encoding="utf-8"?>
<p:presentation xmlns:p="http://schemas.openxmlformats.org/presentationml/2006/main">
  <p:sldMasterIdLst>
    <p:sldMasterId xmlns:r="http://schemas.openxmlformats.org/officeDocument/2006/relationships" id="2147483648" r:id="R1a3a553a425849f8"/>
  </p:sldMasterIdLst>
  <p:notesMasterIdLst>
    <p:notesMasterId xmlns:r="http://schemas.openxmlformats.org/officeDocument/2006/relationships" r:id="R249d931027f84de5"/>
  </p:notesMasterIdLst>
  <p:sldIdLst>
    <p:sldId xmlns:r="http://schemas.openxmlformats.org/officeDocument/2006/relationships" id="256" r:id="R2c0e97586077464b"/>
    <p:sldId xmlns:r="http://schemas.openxmlformats.org/officeDocument/2006/relationships" id="257" r:id="R0f60de27c27a406b"/>
    <p:sldId xmlns:r="http://schemas.openxmlformats.org/officeDocument/2006/relationships" id="258" r:id="R801dcf5ddfd94424"/>
    <p:sldId xmlns:r="http://schemas.openxmlformats.org/officeDocument/2006/relationships" id="259" r:id="R9baf157e6a4d400f"/>
    <p:sldId xmlns:r="http://schemas.openxmlformats.org/officeDocument/2006/relationships" id="260" r:id="R9fc90ed4a39c45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cda68f9b7d4e8b" /><Relationship Type="http://schemas.openxmlformats.org/officeDocument/2006/relationships/slideMaster" Target="/ppt/slideMasters/slideMaster1.xml" Id="R1a3a553a425849f8" /><Relationship Type="http://schemas.openxmlformats.org/officeDocument/2006/relationships/notesMaster" Target="/ppt/notesMasters/notesMaster1.xml" Id="R249d931027f84de5" /><Relationship Type="http://schemas.openxmlformats.org/officeDocument/2006/relationships/presProps" Target="/ppt/presProps.xml" Id="R8de10b2917554aa6" /><Relationship Type="http://schemas.openxmlformats.org/officeDocument/2006/relationships/tableStyles" Target="/ppt/tableStyles.xml" Id="R53d2f61408f34c54" /><Relationship Type="http://schemas.openxmlformats.org/officeDocument/2006/relationships/slide" Target="/ppt/slides/slide1.xml" Id="R2c0e97586077464b" /><Relationship Type="http://schemas.openxmlformats.org/officeDocument/2006/relationships/slide" Target="/ppt/slides/slide2.xml" Id="R0f60de27c27a406b" /><Relationship Type="http://schemas.openxmlformats.org/officeDocument/2006/relationships/slide" Target="/ppt/slides/slide3.xml" Id="R801dcf5ddfd94424" /><Relationship Type="http://schemas.openxmlformats.org/officeDocument/2006/relationships/slide" Target="/ppt/slides/slide4.xml" Id="R9baf157e6a4d400f" /><Relationship Type="http://schemas.openxmlformats.org/officeDocument/2006/relationships/slide" Target="/ppt/slides/slide5.xml" Id="R9fc90ed4a39c45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34f5c5e2864a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278a46b8584785" /><Relationship Type="http://schemas.openxmlformats.org/officeDocument/2006/relationships/notesMaster" Target="/ppt/notesMasters/notesMaster1.xml" Id="R53fefb69d98348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452a11233a4344" /><Relationship Type="http://schemas.openxmlformats.org/officeDocument/2006/relationships/notesMaster" Target="/ppt/notesMasters/notesMaster1.xml" Id="Rc13ae46ed30143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1ab20ed64b485a" /><Relationship Type="http://schemas.openxmlformats.org/officeDocument/2006/relationships/notesMaster" Target="/ppt/notesMasters/notesMaster1.xml" Id="R65b46921621c4c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5c622876644faf" /><Relationship Type="http://schemas.openxmlformats.org/officeDocument/2006/relationships/notesMaster" Target="/ppt/notesMasters/notesMaster1.xml" Id="Rfb1594dc618347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c577c0708a4613" /><Relationship Type="http://schemas.openxmlformats.org/officeDocument/2006/relationships/notesMaster" Target="/ppt/notesMasters/notesMaster1.xml" Id="R400f910626d74f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0:00–0:25. Explain the intended users and problem. This is a product hypothesis, not a claim of validated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0:25–0:55. Show the clean chat interface and language selection. The interview, institutions and required questions come from the model. These are intended runtime steps; the current verification status is on slide four.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0:55–2:00. Use the current polished UI on PR #1. The fictional shop request concerns a navy waterproof daypack of about 20 liters, stock, price and evening pickup in Mapo. The customer authorizes the plan and the business teammate accepts in a separate laptop tab. Ask an unknown preference immediately after the opening, before the service answers. Whether another color is acceptable was not supplied in the interview. The authorized placeholder accepts black only if waterproof and about 20 liters. Actual PR runs ended at 15:27, 15:33 and 15:37 KST. The third captured an explicit alternative-color question that Realtime skipped. No live relay or normal completion passed. A fresh call is prepared with fixes through 7b7c42c. If it has not passed before the presentation, explain the remaining failure and show the real interrupted result. Sources: docs/v2-pr1-review.md and artifacts/v2/pr1-live-shop-third-rehearsal.json. These evidence files are retained locally, not included as raw official upload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2:00–2:30. Automated checks: 64 unit, 30 localhost HTTP with mocked AI and blocked upstream network, 20 mocked customer UI, 16 mocked business UI, and 32 design checks. The build and eight extracted-archive checks passed. These do not establish a successful live microphone conversation. The real PR microphone attempts captured Korean speech, but the teammate reported repeated questions and an ignored business question. The third run recorded navy unavailable and price 10,000 won regardless of color. Pickup speech was ambiguous in transcription and remained unresolved. A Korean parenthetical also caused the summary language guard to withhold the stock answer. Fixes include serialized playback, server detection of explicit customer questions, precise unresolved-question control, and retaining saved transcript metadata in HTTP confirmation review. The last defect could reject a valid confirmation even when isolated state tests passed. The new HTTP regression covers readback and final completion. A three-request real API replay of the recorded business question opens an English relay and faithfully translates the synthetic placeholder reply into Korean. This replay is not a new microphone or audible-return test. A prior recorded summary regression passed nine checks with one provider request and preserved uncertain price. Full live relay and normal completion remain unverified. Source: docs/v2-pr1-review.md; artifacts/v2/pr1-recorded-question-relay-replay.json; artifacts/v2/http-check.json. Korean audibility was explicitly confirmed for the first short hospital attempt only. English, Russian and Chinese UI tests pass; prior real language checks still disclose fidelity limitations. User value remains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2:30–3:00. Show the resulting summary and recommendation only if a real conversation has produced them. Explain unresolved information and testing limits. Describe the representative Codex contribution: dynamic state and authorization checks, language coverage, and explicit synthetic-vs-live evidence. Do not claim target-user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aa83b82c7c43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78af0b756c42a7" /><Relationship Type="http://schemas.openxmlformats.org/officeDocument/2006/relationships/slideLayout" Target="/ppt/slideLayouts/slideLayout1.xml" Id="R07ba91f9cd5c4d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ba91f9cd5c4d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b431fe50cb4440" /><Relationship Type="http://schemas.openxmlformats.org/officeDocument/2006/relationships/notesSlide" Target="/ppt/notesSlides/notesSlide1.xml" Id="R765847f2d22a4b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535dd7de52494d" /><Relationship Type="http://schemas.openxmlformats.org/officeDocument/2006/relationships/notesSlide" Target="/ppt/notesSlides/notesSlide2.xml" Id="R09f30328065e4b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7c91cb70e64f13" /><Relationship Type="http://schemas.openxmlformats.org/officeDocument/2006/relationships/notesSlide" Target="/ppt/notesSlides/notesSlide3.xml" Id="Rf8ff7973492f4d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dba36e3e034358" /><Relationship Type="http://schemas.openxmlformats.org/officeDocument/2006/relationships/notesSlide" Target="/ppt/notesSlides/notesSlide4.xml" Id="Reac74b59bfe941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ac57039ca624a20" /><Relationship Type="http://schemas.openxmlformats.org/officeDocument/2006/relationships/notesSlide" Target="/ppt/notesSlides/notesSlide5.xml" Id="R75d347ef1d074469" /></Relationships>
</file>

<file path=ppt/slides/slide1.xml><?xml version="1.0" encoding="utf-8"?>
<p:sld xmlns:p="http://schemas.openxmlformats.org/presentationml/2006/main">
  <p:cSld>
    <p:bg>
      <p:bgPr>
        <a:solidFill xmlns:a="http://schemas.openxmlformats.org/drawingml/2006/main">
          <a:srgbClr val="1B514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2C12CC-DEFD-46BE-9D60-A107BE725738}"/>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YOKOBU v2 · Fictional institutions · Simulated calls only</a:t>
            </a:r>
          </a:p>
        </p:txBody>
      </p:sp>
      <p:sp>
        <p:nvSpPr>
          <p:cNvPr id="2" name="">
            <a:extLst xmlns:a="http://schemas.openxmlformats.org/drawingml/2006/main">
              <a:ext uri="{FF2B5EF4-FFF2-40B4-BE49-F238E27FC236}">
                <a16:creationId xmlns:a16="http://schemas.microsoft.com/office/drawing/2014/main" id="{DA4BA1E9-21EA-41D6-BC67-15AEF6395924}"/>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1 / 5</a:t>
            </a:r>
          </a:p>
        </p:txBody>
      </p:sp>
      <p:sp>
        <p:nvSpPr>
          <p:cNvPr id="3" name="">
            <a:extLst xmlns:a="http://schemas.openxmlformats.org/drawingml/2006/main">
              <a:ext uri="{FF2B5EF4-FFF2-40B4-BE49-F238E27FC236}">
                <a16:creationId xmlns:a16="http://schemas.microsoft.com/office/drawing/2014/main" id="{272D2169-59A1-437B-85CD-397C08A5C896}"/>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300" b="1">
                <a:solidFill>
                  <a:srgbClr val="E4F4A2"/>
                </a:solidFill>
                <a:latin typeface="Arial"/>
                <a:ea typeface="Arial"/>
                <a:cs typeface="Arial"/>
              </a:defRPr>
            </a:pPr>
            <a:r>
              <a:rPr sz="6300" b="1">
                <a:solidFill>
                  <a:srgbClr val="E4F4A2"/>
                </a:solidFill>
                <a:latin typeface="Arial"/>
                <a:ea typeface="Arial"/>
                <a:cs typeface="Arial"/>
              </a:rPr>
              <a:t>YOKOBU</a:t>
            </a:r>
          </a:p>
        </p:txBody>
      </p:sp>
      <p:sp>
        <p:nvSpPr>
          <p:cNvPr id="4" name="">
            <a:extLst xmlns:a="http://schemas.openxmlformats.org/drawingml/2006/main">
              <a:ext uri="{FF2B5EF4-FFF2-40B4-BE49-F238E27FC236}">
                <a16:creationId xmlns:a16="http://schemas.microsoft.com/office/drawing/2014/main" id="{ED0855F2-5A7A-4A98-B758-6C9466335760}"/>
              </a:ext>
            </a:extLst>
          </p:cNvPr>
          <p:cNvSpPr>
            <a:spLocks xmlns:a="http://schemas.openxmlformats.org/drawingml/2006/main" noGrp="1"/>
          </p:cNvSpPr>
          <p:nvPr/>
        </p:nvSpPr>
        <p:spPr>
          <a:xfrm xmlns:a="http://schemas.openxmlformats.org/drawingml/2006/main">
            <a:off x="685800" y="1990725"/>
            <a:ext cx="108204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 text interface for</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Korean business conversations</a:t>
            </a:r>
          </a:p>
        </p:txBody>
      </p:sp>
      <p:sp>
        <p:nvSpPr>
          <p:cNvPr id="5" name="">
            <a:extLst xmlns:a="http://schemas.openxmlformats.org/drawingml/2006/main">
              <a:ext uri="{FF2B5EF4-FFF2-40B4-BE49-F238E27FC236}">
                <a16:creationId xmlns:a16="http://schemas.microsoft.com/office/drawing/2014/main" id="{4DF4102D-8F6B-4D8E-9BE6-E48F8BEBE769}"/>
              </a:ext>
            </a:extLst>
          </p:cNvPr>
          <p:cNvSpPr>
            <a:spLocks xmlns:a="http://schemas.openxmlformats.org/drawingml/2006/main" noGrp="1"/>
          </p:cNvSpPr>
          <p:nvPr/>
        </p:nvSpPr>
        <p:spPr>
          <a:xfrm xmlns:a="http://schemas.openxmlformats.org/drawingml/2006/main">
            <a:off x="723900" y="39433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For expats, tourists, and deaf or hard-of-hearing</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users in Korea who need information or help.</a:t>
            </a:r>
          </a:p>
        </p:txBody>
      </p:sp>
      <p:sp>
        <p:nvSpPr>
          <p:cNvPr id="6" name="">
            <a:extLst xmlns:a="http://schemas.openxmlformats.org/drawingml/2006/main">
              <a:ext uri="{FF2B5EF4-FFF2-40B4-BE49-F238E27FC236}">
                <a16:creationId xmlns:a16="http://schemas.microsoft.com/office/drawing/2014/main" id="{D05C507F-AE06-4803-9E19-A97062DD42BB}"/>
              </a:ext>
            </a:extLst>
          </p:cNvPr>
          <p:cNvSpPr>
            <a:spLocks xmlns:a="http://schemas.openxmlformats.org/drawingml/2006/main" noGrp="1"/>
          </p:cNvSpPr>
          <p:nvPr/>
        </p:nvSpPr>
        <p:spPr>
          <a:xfrm xmlns:a="http://schemas.openxmlformats.org/drawingml/2006/main">
            <a:off x="723900" y="5219700"/>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Language and accessibility barriers can prevent people</a:t>
            </a:r>
          </a:p>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from getting the information they need by phone.</a:t>
            </a:r>
          </a:p>
        </p:txBody>
      </p:sp>
    </p:spTree>
    <p:extLst>
      <p:ext uri="{BB962C8B-B14F-4D97-AF65-F5344CB8AC3E}">
        <p14:creationId xmlns:p14="http://schemas.microsoft.com/office/powerpoint/2010/main" val="762057176"/>
      </p:ext>
    </p:extLst>
  </p:cSld>
</p:sld>
</file>

<file path=ppt/slides/slide2.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0BFBB44-226B-47F3-BEAE-B3E2B17FBA10}"/>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customer experience</a:t>
            </a:r>
          </a:p>
        </p:txBody>
      </p:sp>
      <p:sp>
        <p:nvSpPr>
          <p:cNvPr id="2" name="">
            <a:extLst xmlns:a="http://schemas.openxmlformats.org/drawingml/2006/main">
              <a:ext uri="{FF2B5EF4-FFF2-40B4-BE49-F238E27FC236}">
                <a16:creationId xmlns:a16="http://schemas.microsoft.com/office/drawing/2014/main" id="{8B3A6F51-CAC0-47A7-B87F-0E0401BE0454}"/>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4DA8FC65-9257-46AA-B54E-4818A1E4E943}"/>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2 / 5</a:t>
            </a:r>
          </a:p>
        </p:txBody>
      </p:sp>
      <p:sp>
        <p:nvSpPr>
          <p:cNvPr id="4" name="">
            <a:extLst xmlns:a="http://schemas.openxmlformats.org/drawingml/2006/main">
              <a:ext uri="{FF2B5EF4-FFF2-40B4-BE49-F238E27FC236}">
                <a16:creationId xmlns:a16="http://schemas.microsoft.com/office/drawing/2014/main" id="{123B894E-7FA3-4F3F-8138-ADD9D30DA9D5}"/>
              </a:ext>
            </a:extLst>
          </p:cNvPr>
          <p:cNvSpPr>
            <a:spLocks xmlns:a="http://schemas.openxmlformats.org/drawingml/2006/main" noGrp="1"/>
          </p:cNvSpPr>
          <p:nvPr/>
        </p:nvSpPr>
        <p:spPr>
          <a:xfrm xmlns:a="http://schemas.openxmlformats.org/drawingml/2006/main">
            <a:off x="704850" y="15906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875D08A-A1A0-4519-87E6-66561AE92889}"/>
              </a:ext>
            </a:extLst>
          </p:cNvPr>
          <p:cNvSpPr>
            <a:spLocks xmlns:a="http://schemas.openxmlformats.org/drawingml/2006/main" noGrp="1"/>
          </p:cNvSpPr>
          <p:nvPr/>
        </p:nvSpPr>
        <p:spPr>
          <a:xfrm xmlns:a="http://schemas.openxmlformats.org/drawingml/2006/main">
            <a:off x="1647825" y="15906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Describe a need</a:t>
            </a:r>
          </a:p>
        </p:txBody>
      </p:sp>
      <p:sp>
        <p:nvSpPr>
          <p:cNvPr id="6" name="">
            <a:extLst xmlns:a="http://schemas.openxmlformats.org/drawingml/2006/main">
              <a:ext uri="{FF2B5EF4-FFF2-40B4-BE49-F238E27FC236}">
                <a16:creationId xmlns:a16="http://schemas.microsoft.com/office/drawing/2014/main" id="{4401E1D2-4FE9-4AAE-B985-8D06684649CB}"/>
              </a:ext>
            </a:extLst>
          </p:cNvPr>
          <p:cNvSpPr>
            <a:spLocks xmlns:a="http://schemas.openxmlformats.org/drawingml/2006/main" noGrp="1"/>
          </p:cNvSpPr>
          <p:nvPr/>
        </p:nvSpPr>
        <p:spPr>
          <a:xfrm xmlns:a="http://schemas.openxmlformats.org/drawingml/2006/main">
            <a:off x="1666875" y="20097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English by default, with Russian and Chinese options.</a:t>
            </a:r>
          </a:p>
        </p:txBody>
      </p:sp>
      <p:sp>
        <p:nvSpPr>
          <p:cNvPr id="7" name="">
            <a:extLst xmlns:a="http://schemas.openxmlformats.org/drawingml/2006/main">
              <a:ext uri="{FF2B5EF4-FFF2-40B4-BE49-F238E27FC236}">
                <a16:creationId xmlns:a16="http://schemas.microsoft.com/office/drawing/2014/main" id="{79077EA8-6674-4BA0-A750-437ACACEC7BE}"/>
              </a:ext>
            </a:extLst>
          </p:cNvPr>
          <p:cNvSpPr>
            <a:spLocks xmlns:a="http://schemas.openxmlformats.org/drawingml/2006/main" noGrp="1"/>
          </p:cNvSpPr>
          <p:nvPr/>
        </p:nvSpPr>
        <p:spPr>
          <a:xfrm xmlns:a="http://schemas.openxmlformats.org/drawingml/2006/main">
            <a:off x="704850" y="247650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DB137A0-82C1-4BE4-897A-121384D93133}"/>
              </a:ext>
            </a:extLst>
          </p:cNvPr>
          <p:cNvSpPr>
            <a:spLocks xmlns:a="http://schemas.openxmlformats.org/drawingml/2006/main" noGrp="1"/>
          </p:cNvSpPr>
          <p:nvPr/>
        </p:nvSpPr>
        <p:spPr>
          <a:xfrm xmlns:a="http://schemas.openxmlformats.org/drawingml/2006/main">
            <a:off x="1647825" y="247650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Clarify through chat</a:t>
            </a:r>
          </a:p>
        </p:txBody>
      </p:sp>
      <p:sp>
        <p:nvSpPr>
          <p:cNvPr id="9" name="">
            <a:extLst xmlns:a="http://schemas.openxmlformats.org/drawingml/2006/main">
              <a:ext uri="{FF2B5EF4-FFF2-40B4-BE49-F238E27FC236}">
                <a16:creationId xmlns:a16="http://schemas.microsoft.com/office/drawing/2014/main" id="{3759CB4F-DBDF-4489-9F24-8F4ABC0EB67B}"/>
              </a:ext>
            </a:extLst>
          </p:cNvPr>
          <p:cNvSpPr>
            <a:spLocks xmlns:a="http://schemas.openxmlformats.org/drawingml/2006/main" noGrp="1"/>
          </p:cNvSpPr>
          <p:nvPr/>
        </p:nvSpPr>
        <p:spPr>
          <a:xfrm xmlns:a="http://schemas.openxmlformats.org/drawingml/2006/main">
            <a:off x="1666875" y="289560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OpenAI generates the interview and a concrete call plan.</a:t>
            </a:r>
          </a:p>
        </p:txBody>
      </p:sp>
      <p:sp>
        <p:nvSpPr>
          <p:cNvPr id="10" name="">
            <a:extLst xmlns:a="http://schemas.openxmlformats.org/drawingml/2006/main">
              <a:ext uri="{FF2B5EF4-FFF2-40B4-BE49-F238E27FC236}">
                <a16:creationId xmlns:a16="http://schemas.microsoft.com/office/drawing/2014/main" id="{F30C35D9-BA62-46FC-9599-5CFFA8D3D37D}"/>
              </a:ext>
            </a:extLst>
          </p:cNvPr>
          <p:cNvSpPr>
            <a:spLocks xmlns:a="http://schemas.openxmlformats.org/drawingml/2006/main" noGrp="1"/>
          </p:cNvSpPr>
          <p:nvPr/>
        </p:nvSpPr>
        <p:spPr>
          <a:xfrm xmlns:a="http://schemas.openxmlformats.org/drawingml/2006/main">
            <a:off x="704850" y="336232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8E011EF-1580-4DAE-9991-50931C44E9E4}"/>
              </a:ext>
            </a:extLst>
          </p:cNvPr>
          <p:cNvSpPr>
            <a:spLocks xmlns:a="http://schemas.openxmlformats.org/drawingml/2006/main" noGrp="1"/>
          </p:cNvSpPr>
          <p:nvPr/>
        </p:nvSpPr>
        <p:spPr>
          <a:xfrm xmlns:a="http://schemas.openxmlformats.org/drawingml/2006/main">
            <a:off x="1647825" y="336232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Review and authorize</a:t>
            </a:r>
          </a:p>
        </p:txBody>
      </p:sp>
      <p:sp>
        <p:nvSpPr>
          <p:cNvPr id="12" name="">
            <a:extLst xmlns:a="http://schemas.openxmlformats.org/drawingml/2006/main">
              <a:ext uri="{FF2B5EF4-FFF2-40B4-BE49-F238E27FC236}">
                <a16:creationId xmlns:a16="http://schemas.microsoft.com/office/drawing/2014/main" id="{6CE448FE-C59B-4830-8653-1D1E25BBA9B6}"/>
              </a:ext>
            </a:extLst>
          </p:cNvPr>
          <p:cNvSpPr>
            <a:spLocks xmlns:a="http://schemas.openxmlformats.org/drawingml/2006/main" noGrp="1"/>
          </p:cNvSpPr>
          <p:nvPr/>
        </p:nvSpPr>
        <p:spPr>
          <a:xfrm xmlns:a="http://schemas.openxmlformats.org/drawingml/2006/main">
            <a:off x="1666875" y="378142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Choose a fictional institution, then explicitly say Yes.</a:t>
            </a:r>
          </a:p>
        </p:txBody>
      </p:sp>
      <p:sp>
        <p:nvSpPr>
          <p:cNvPr id="13" name="">
            <a:extLst xmlns:a="http://schemas.openxmlformats.org/drawingml/2006/main">
              <a:ext uri="{FF2B5EF4-FFF2-40B4-BE49-F238E27FC236}">
                <a16:creationId xmlns:a16="http://schemas.microsoft.com/office/drawing/2014/main" id="{8A816ED9-B91B-4E80-926C-8695A8933DF4}"/>
              </a:ext>
            </a:extLst>
          </p:cNvPr>
          <p:cNvSpPr>
            <a:spLocks xmlns:a="http://schemas.openxmlformats.org/drawingml/2006/main" noGrp="1"/>
          </p:cNvSpPr>
          <p:nvPr/>
        </p:nvSpPr>
        <p:spPr>
          <a:xfrm xmlns:a="http://schemas.openxmlformats.org/drawingml/2006/main">
            <a:off x="704850" y="424815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BC41F7B8-C0A4-45B9-A8E3-53AD41C175BF}"/>
              </a:ext>
            </a:extLst>
          </p:cNvPr>
          <p:cNvSpPr>
            <a:spLocks xmlns:a="http://schemas.openxmlformats.org/drawingml/2006/main" noGrp="1"/>
          </p:cNvSpPr>
          <p:nvPr/>
        </p:nvSpPr>
        <p:spPr>
          <a:xfrm xmlns:a="http://schemas.openxmlformats.org/drawingml/2006/main">
            <a:off x="1647825" y="424815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Resolve questions in Korean</a:t>
            </a:r>
          </a:p>
        </p:txBody>
      </p:sp>
      <p:sp>
        <p:nvSpPr>
          <p:cNvPr id="15" name="">
            <a:extLst xmlns:a="http://schemas.openxmlformats.org/drawingml/2006/main">
              <a:ext uri="{FF2B5EF4-FFF2-40B4-BE49-F238E27FC236}">
                <a16:creationId xmlns:a16="http://schemas.microsoft.com/office/drawing/2014/main" id="{2863ED92-EC1C-4F65-A0F6-C84C4FCD9218}"/>
              </a:ext>
            </a:extLst>
          </p:cNvPr>
          <p:cNvSpPr>
            <a:spLocks xmlns:a="http://schemas.openxmlformats.org/drawingml/2006/main" noGrp="1"/>
          </p:cNvSpPr>
          <p:nvPr/>
        </p:nvSpPr>
        <p:spPr>
          <a:xfrm xmlns:a="http://schemas.openxmlformats.org/drawingml/2006/main">
            <a:off x="1666875" y="466725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Realtime voice speaks to the teammate. Unknown details return to chat.</a:t>
            </a:r>
          </a:p>
        </p:txBody>
      </p:sp>
      <p:sp>
        <p:nvSpPr>
          <p:cNvPr id="16" name="">
            <a:extLst xmlns:a="http://schemas.openxmlformats.org/drawingml/2006/main">
              <a:ext uri="{FF2B5EF4-FFF2-40B4-BE49-F238E27FC236}">
                <a16:creationId xmlns:a16="http://schemas.microsoft.com/office/drawing/2014/main" id="{2B6E1885-697A-4762-B7CB-86515DB3B600}"/>
              </a:ext>
            </a:extLst>
          </p:cNvPr>
          <p:cNvSpPr>
            <a:spLocks xmlns:a="http://schemas.openxmlformats.org/drawingml/2006/main" noGrp="1"/>
          </p:cNvSpPr>
          <p:nvPr/>
        </p:nvSpPr>
        <p:spPr>
          <a:xfrm xmlns:a="http://schemas.openxmlformats.org/drawingml/2006/main">
            <a:off x="704850" y="51339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6F5386E9-6813-4806-8548-D94C06E7D521}"/>
              </a:ext>
            </a:extLst>
          </p:cNvPr>
          <p:cNvSpPr>
            <a:spLocks xmlns:a="http://schemas.openxmlformats.org/drawingml/2006/main" noGrp="1"/>
          </p:cNvSpPr>
          <p:nvPr/>
        </p:nvSpPr>
        <p:spPr>
          <a:xfrm xmlns:a="http://schemas.openxmlformats.org/drawingml/2006/main">
            <a:off x="1647825" y="51339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Receive the result</a:t>
            </a:r>
          </a:p>
        </p:txBody>
      </p:sp>
      <p:sp>
        <p:nvSpPr>
          <p:cNvPr id="18" name="">
            <a:extLst xmlns:a="http://schemas.openxmlformats.org/drawingml/2006/main">
              <a:ext uri="{FF2B5EF4-FFF2-40B4-BE49-F238E27FC236}">
                <a16:creationId xmlns:a16="http://schemas.microsoft.com/office/drawing/2014/main" id="{E8C97132-5062-4289-BE48-F6C21F5B9950}"/>
              </a:ext>
            </a:extLst>
          </p:cNvPr>
          <p:cNvSpPr>
            <a:spLocks xmlns:a="http://schemas.openxmlformats.org/drawingml/2006/main" noGrp="1"/>
          </p:cNvSpPr>
          <p:nvPr/>
        </p:nvSpPr>
        <p:spPr>
          <a:xfrm xmlns:a="http://schemas.openxmlformats.org/drawingml/2006/main">
            <a:off x="1666875" y="55530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A conversation-grounded summary and a reasoned recommendation.</a:t>
            </a:r>
          </a:p>
        </p:txBody>
      </p:sp>
    </p:spTree>
    <p:extLst>
      <p:ext uri="{BB962C8B-B14F-4D97-AF65-F5344CB8AC3E}">
        <p14:creationId xmlns:p14="http://schemas.microsoft.com/office/powerpoint/2010/main" val="453155832"/>
      </p:ext>
    </p:extLst>
  </p:cSld>
</p:sld>
</file>

<file path=ppt/slides/slide3.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CC365FA-49AB-432C-8586-0AED4B7AF22F}"/>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laptop demonstration</a:t>
            </a:r>
          </a:p>
        </p:txBody>
      </p:sp>
      <p:sp>
        <p:nvSpPr>
          <p:cNvPr id="2" name="">
            <a:extLst xmlns:a="http://schemas.openxmlformats.org/drawingml/2006/main">
              <a:ext uri="{FF2B5EF4-FFF2-40B4-BE49-F238E27FC236}">
                <a16:creationId xmlns:a16="http://schemas.microsoft.com/office/drawing/2014/main" id="{F68E31A0-7043-4B6D-8AFC-A5862D3119C6}"/>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F9A336A3-49F9-457F-A4B9-7B53AB75A9B3}"/>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3 / 5</a:t>
            </a:r>
          </a:p>
        </p:txBody>
      </p:sp>
      <p:sp>
        <p:nvSpPr>
          <p:cNvPr id="4" name="">
            <a:extLst xmlns:a="http://schemas.openxmlformats.org/drawingml/2006/main">
              <a:ext uri="{FF2B5EF4-FFF2-40B4-BE49-F238E27FC236}">
                <a16:creationId xmlns:a16="http://schemas.microsoft.com/office/drawing/2014/main" id="{64C255F8-727F-4A81-BDE7-C32DA57ED5A3}"/>
              </a:ext>
            </a:extLst>
          </p:cNvPr>
          <p:cNvSpPr>
            <a:spLocks xmlns:a="http://schemas.openxmlformats.org/drawingml/2006/main" noGrp="1"/>
          </p:cNvSpPr>
          <p:nvPr/>
        </p:nvSpPr>
        <p:spPr>
          <a:xfrm xmlns:a="http://schemas.openxmlformats.org/drawingml/2006/main">
            <a:off x="704850" y="13620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986224"/>
                </a:solidFill>
                <a:latin typeface="Arial"/>
                <a:ea typeface="Arial"/>
                <a:cs typeface="Arial"/>
              </a:defRPr>
            </a:pPr>
            <a:r>
              <a:rPr sz="1875" b="1">
                <a:solidFill>
                  <a:srgbClr val="986224"/>
                </a:solidFill>
                <a:latin typeface="Arial"/>
                <a:ea typeface="Arial"/>
                <a:cs typeface="Arial"/>
              </a:rPr>
              <a:t>Live shop rehearsal remains incomplete</a:t>
            </a:r>
          </a:p>
        </p:txBody>
      </p:sp>
      <p:sp>
        <p:nvSpPr>
          <p:cNvPr id="5" name="">
            <a:extLst xmlns:a="http://schemas.openxmlformats.org/drawingml/2006/main">
              <a:ext uri="{FF2B5EF4-FFF2-40B4-BE49-F238E27FC236}">
                <a16:creationId xmlns:a16="http://schemas.microsoft.com/office/drawing/2014/main" id="{71C110BD-8585-4C91-B78C-C76FE0C40D33}"/>
              </a:ext>
            </a:extLst>
          </p:cNvPr>
          <p:cNvSpPr>
            <a:spLocks xmlns:a="http://schemas.openxmlformats.org/drawingml/2006/main" noGrp="1"/>
          </p:cNvSpPr>
          <p:nvPr/>
        </p:nvSpPr>
        <p:spPr>
          <a:xfrm xmlns:a="http://schemas.openxmlformats.org/drawingml/2006/main">
            <a:off x="704850" y="21240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CUSTOMER TAB</a:t>
            </a:r>
          </a:p>
        </p:txBody>
      </p:sp>
      <p:sp>
        <p:nvSpPr>
          <p:cNvPr id="6" name="">
            <a:extLst xmlns:a="http://schemas.openxmlformats.org/drawingml/2006/main">
              <a:ext uri="{FF2B5EF4-FFF2-40B4-BE49-F238E27FC236}">
                <a16:creationId xmlns:a16="http://schemas.microsoft.com/office/drawing/2014/main" id="{97EA2D31-51EE-4D58-A31D-A58131EE9B02}"/>
              </a:ext>
            </a:extLst>
          </p:cNvPr>
          <p:cNvSpPr>
            <a:spLocks xmlns:a="http://schemas.openxmlformats.org/drawingml/2006/main" noGrp="1"/>
          </p:cNvSpPr>
          <p:nvPr/>
        </p:nvSpPr>
        <p:spPr>
          <a:xfrm xmlns:a="http://schemas.openxmlformats.org/drawingml/2006/main">
            <a:off x="704850" y="2638425"/>
            <a:ext cx="54483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“Can you help me check whether</a:t>
            </a:r>
          </a:p>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a shop has an item in stock?”</a:t>
            </a:r>
          </a:p>
        </p:txBody>
      </p:sp>
      <p:sp>
        <p:nvSpPr>
          <p:cNvPr id="7" name="">
            <a:extLst xmlns:a="http://schemas.openxmlformats.org/drawingml/2006/main">
              <a:ext uri="{FF2B5EF4-FFF2-40B4-BE49-F238E27FC236}">
                <a16:creationId xmlns:a16="http://schemas.microsoft.com/office/drawing/2014/main" id="{824CEBFC-A89F-412A-9D35-F5CC14876B72}"/>
              </a:ext>
            </a:extLst>
          </p:cNvPr>
          <p:cNvSpPr>
            <a:spLocks xmlns:a="http://schemas.openxmlformats.org/drawingml/2006/main" noGrp="1"/>
          </p:cNvSpPr>
          <p:nvPr/>
        </p:nvSpPr>
        <p:spPr>
          <a:xfrm xmlns:a="http://schemas.openxmlformats.org/drawingml/2006/main">
            <a:off x="704850" y="3648075"/>
            <a:ext cx="5381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Answer the AI’s questions.</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Review the plan and authorize.</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Reply to unknown details in chat.</a:t>
            </a:r>
          </a:p>
        </p:txBody>
      </p:sp>
      <p:sp>
        <p:nvSpPr>
          <p:cNvPr id="8" name="">
            <a:extLst xmlns:a="http://schemas.openxmlformats.org/drawingml/2006/main">
              <a:ext uri="{FF2B5EF4-FFF2-40B4-BE49-F238E27FC236}">
                <a16:creationId xmlns:a16="http://schemas.microsoft.com/office/drawing/2014/main" id="{B57B9388-6A09-4BEB-A529-FB327008B376}"/>
              </a:ext>
            </a:extLst>
          </p:cNvPr>
          <p:cNvSpPr>
            <a:spLocks xmlns:a="http://schemas.openxmlformats.org/drawingml/2006/main" noGrp="1"/>
          </p:cNvSpPr>
          <p:nvPr/>
        </p:nvSpPr>
        <p:spPr>
          <a:xfrm xmlns:a="http://schemas.openxmlformats.org/drawingml/2006/main">
            <a:off x="6800850" y="2124075"/>
            <a:ext cx="4695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BUSINESS TAB</a:t>
            </a:r>
          </a:p>
        </p:txBody>
      </p:sp>
      <p:sp>
        <p:nvSpPr>
          <p:cNvPr id="9" name="">
            <a:extLst xmlns:a="http://schemas.openxmlformats.org/drawingml/2006/main">
              <a:ext uri="{FF2B5EF4-FFF2-40B4-BE49-F238E27FC236}">
                <a16:creationId xmlns:a16="http://schemas.microsoft.com/office/drawing/2014/main" id="{637467C8-89FD-45B4-82A0-6000BDF66943}"/>
              </a:ext>
            </a:extLst>
          </p:cNvPr>
          <p:cNvSpPr>
            <a:spLocks xmlns:a="http://schemas.openxmlformats.org/drawingml/2006/main" noGrp="1"/>
          </p:cNvSpPr>
          <p:nvPr/>
        </p:nvSpPr>
        <p:spPr>
          <a:xfrm xmlns:a="http://schemas.openxmlformats.org/drawingml/2006/main">
            <a:off x="6800850" y="2638425"/>
            <a:ext cx="4686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Inactive until authorized</a:t>
            </a:r>
          </a:p>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and accepted</a:t>
            </a:r>
          </a:p>
        </p:txBody>
      </p:sp>
      <p:sp>
        <p:nvSpPr>
          <p:cNvPr id="10" name="">
            <a:extLst xmlns:a="http://schemas.openxmlformats.org/drawingml/2006/main">
              <a:ext uri="{FF2B5EF4-FFF2-40B4-BE49-F238E27FC236}">
                <a16:creationId xmlns:a16="http://schemas.microsoft.com/office/drawing/2014/main" id="{6E5BF615-CE15-4FA4-BAA5-70588268E2A4}"/>
              </a:ext>
            </a:extLst>
          </p:cNvPr>
          <p:cNvSpPr>
            <a:spLocks xmlns:a="http://schemas.openxmlformats.org/drawingml/2006/main" noGrp="1"/>
          </p:cNvSpPr>
          <p:nvPr/>
        </p:nvSpPr>
        <p:spPr>
          <a:xfrm xmlns:a="http://schemas.openxmlformats.org/drawingml/2006/main">
            <a:off x="6800850" y="3686175"/>
            <a:ext cx="46863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The teammate accepts the call.</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Speak Korean through the laptop’s</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microphone and speaker.</a:t>
            </a:r>
          </a:p>
        </p:txBody>
      </p:sp>
      <p:sp>
        <p:nvSpPr>
          <p:cNvPr id="11" name="">
            <a:extLst xmlns:a="http://schemas.openxmlformats.org/drawingml/2006/main">
              <a:ext uri="{FF2B5EF4-FFF2-40B4-BE49-F238E27FC236}">
                <a16:creationId xmlns:a16="http://schemas.microsoft.com/office/drawing/2014/main" id="{7F898910-1FAF-4DB1-814D-03688C13C6A2}"/>
              </a:ext>
            </a:extLst>
          </p:cNvPr>
          <p:cNvSpPr>
            <a:spLocks xmlns:a="http://schemas.openxmlformats.org/drawingml/2006/main" noGrp="1"/>
          </p:cNvSpPr>
          <p:nvPr/>
        </p:nvSpPr>
        <p:spPr>
          <a:xfrm xmlns:a="http://schemas.openxmlformats.org/drawingml/2006/main">
            <a:off x="704850" y="5172075"/>
            <a:ext cx="10753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Navy is known. Whether black is acceptable is still unknown.</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The planned relay asks the customer, then returns the answer in Korean.</a:t>
            </a:r>
          </a:p>
        </p:txBody>
      </p:sp>
      <p:sp>
        <p:nvSpPr>
          <p:cNvPr id="12" name="">
            <a:extLst xmlns:a="http://schemas.openxmlformats.org/drawingml/2006/main">
              <a:ext uri="{FF2B5EF4-FFF2-40B4-BE49-F238E27FC236}">
                <a16:creationId xmlns:a16="http://schemas.microsoft.com/office/drawing/2014/main" id="{D8543D9C-6F83-45E6-819A-91EAE396BBF6}"/>
              </a:ext>
            </a:extLst>
          </p:cNvPr>
          <p:cNvSpPr>
            <a:spLocks xmlns:a="http://schemas.openxmlformats.org/drawingml/2006/main" noGrp="1"/>
          </p:cNvSpPr>
          <p:nvPr/>
        </p:nvSpPr>
        <p:spPr>
          <a:xfrm xmlns:a="http://schemas.openxmlformats.org/drawingml/2006/main">
            <a:off x="704850" y="5943600"/>
            <a:ext cx="10753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4756D"/>
                </a:solidFill>
                <a:latin typeface="Arial"/>
                <a:ea typeface="Arial"/>
                <a:cs typeface="Arial"/>
              </a:defRPr>
            </a:pPr>
            <a:r>
              <a:rPr sz="1575" b="0">
                <a:solidFill>
                  <a:srgbClr val="64756D"/>
                </a:solidFill>
                <a:latin typeface="Arial"/>
                <a:ea typeface="Arial"/>
                <a:cs typeface="Arial"/>
              </a:rPr>
              <a:t>Completion requires every required answer and a confirmed readback.</a:t>
            </a:r>
          </a:p>
        </p:txBody>
      </p:sp>
    </p:spTree>
    <p:extLst>
      <p:ext uri="{BB962C8B-B14F-4D97-AF65-F5344CB8AC3E}">
        <p14:creationId xmlns:p14="http://schemas.microsoft.com/office/powerpoint/2010/main" val="1746325692"/>
      </p:ext>
    </p:extLst>
  </p:cSld>
</p:sld>
</file>

<file path=ppt/slides/slide4.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3F8B0A-6653-49BE-A81C-A80AE4C7AE58}"/>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Codex work and verification</a:t>
            </a:r>
          </a:p>
        </p:txBody>
      </p:sp>
      <p:sp>
        <p:nvSpPr>
          <p:cNvPr id="2" name="">
            <a:extLst xmlns:a="http://schemas.openxmlformats.org/drawingml/2006/main">
              <a:ext uri="{FF2B5EF4-FFF2-40B4-BE49-F238E27FC236}">
                <a16:creationId xmlns:a16="http://schemas.microsoft.com/office/drawing/2014/main" id="{B243A8D8-ED7F-417C-BA83-B56D331253D2}"/>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9AB55066-27B1-4290-8385-91507F87AF1C}"/>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4 / 5</a:t>
            </a:r>
          </a:p>
        </p:txBody>
      </p:sp>
      <p:sp>
        <p:nvSpPr>
          <p:cNvPr id="4" name="">
            <a:extLst xmlns:a="http://schemas.openxmlformats.org/drawingml/2006/main">
              <a:ext uri="{FF2B5EF4-FFF2-40B4-BE49-F238E27FC236}">
                <a16:creationId xmlns:a16="http://schemas.microsoft.com/office/drawing/2014/main" id="{C3ED9613-9766-4DF9-8081-DDD6F9AB8275}"/>
              </a:ext>
            </a:extLst>
          </p:cNvPr>
          <p:cNvSpPr>
            <a:spLocks xmlns:a="http://schemas.openxmlformats.org/drawingml/2006/main" noGrp="1"/>
          </p:cNvSpPr>
          <p:nvPr/>
        </p:nvSpPr>
        <p:spPr>
          <a:xfrm xmlns:a="http://schemas.openxmlformats.org/drawingml/2006/main">
            <a:off x="704850" y="14954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B5147"/>
                </a:solidFill>
                <a:latin typeface="Arial"/>
                <a:ea typeface="Arial"/>
                <a:cs typeface="Arial"/>
              </a:defRPr>
            </a:pPr>
            <a:r>
              <a:rPr sz="2250" b="1">
                <a:solidFill>
                  <a:srgbClr val="1B5147"/>
                </a:solidFill>
                <a:latin typeface="Arial"/>
                <a:ea typeface="Arial"/>
                <a:cs typeface="Arial"/>
              </a:rPr>
              <a:t>Codex built the chat, call state, and test harnesses</a:t>
            </a:r>
          </a:p>
        </p:txBody>
      </p:sp>
      <p:sp>
        <p:nvSpPr>
          <p:cNvPr id="5" name="">
            <a:extLst xmlns:a="http://schemas.openxmlformats.org/drawingml/2006/main">
              <a:ext uri="{FF2B5EF4-FFF2-40B4-BE49-F238E27FC236}">
                <a16:creationId xmlns:a16="http://schemas.microsoft.com/office/drawing/2014/main" id="{42AAECB1-B0F4-4FD4-A330-5B7E06068DDE}"/>
              </a:ext>
            </a:extLst>
          </p:cNvPr>
          <p:cNvSpPr>
            <a:spLocks xmlns:a="http://schemas.openxmlformats.org/drawingml/2006/main" noGrp="1"/>
          </p:cNvSpPr>
          <p:nvPr/>
        </p:nvSpPr>
        <p:spPr>
          <a:xfrm xmlns:a="http://schemas.openxmlformats.org/drawingml/2006/main">
            <a:off x="704850" y="195262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64 unit and 30 HTTP checks passed. Mocked browser checks:</a:t>
            </a:r>
          </a:p>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20 customer, 16 business and 32 design checks passed.</a:t>
            </a:r>
          </a:p>
        </p:txBody>
      </p:sp>
      <p:sp>
        <p:nvSpPr>
          <p:cNvPr id="6" name="">
            <a:extLst xmlns:a="http://schemas.openxmlformats.org/drawingml/2006/main">
              <a:ext uri="{FF2B5EF4-FFF2-40B4-BE49-F238E27FC236}">
                <a16:creationId xmlns:a16="http://schemas.microsoft.com/office/drawing/2014/main" id="{9636E107-2D2A-4529-AF2D-D46714DF697A}"/>
              </a:ext>
            </a:extLst>
          </p:cNvPr>
          <p:cNvSpPr>
            <a:spLocks xmlns:a="http://schemas.openxmlformats.org/drawingml/2006/main" noGrp="1"/>
          </p:cNvSpPr>
          <p:nvPr/>
        </p:nvSpPr>
        <p:spPr>
          <a:xfrm xmlns:a="http://schemas.openxmlformats.org/drawingml/2006/main">
            <a:off x="704850" y="272415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4756D"/>
                </a:solidFill>
                <a:latin typeface="Arial"/>
                <a:ea typeface="Arial"/>
                <a:cs typeface="Arial"/>
              </a:defRPr>
            </a:pPr>
            <a:r>
              <a:rPr sz="1575" b="0">
                <a:solidFill>
                  <a:srgbClr val="64756D"/>
                </a:solidFill>
                <a:latin typeface="Arial"/>
                <a:ea typeface="Arial"/>
                <a:cs typeface="Arial"/>
              </a:rPr>
              <a:t>HTTP tests mock AI. Automated checks do not prove speech or user value.</a:t>
            </a:r>
          </a:p>
        </p:txBody>
      </p:sp>
      <p:sp>
        <p:nvSpPr>
          <p:cNvPr id="7" name="">
            <a:extLst xmlns:a="http://schemas.openxmlformats.org/drawingml/2006/main">
              <a:ext uri="{FF2B5EF4-FFF2-40B4-BE49-F238E27FC236}">
                <a16:creationId xmlns:a16="http://schemas.microsoft.com/office/drawing/2014/main" id="{39CDFD2A-F04E-43B2-AA66-DC987BB27CC6}"/>
              </a:ext>
            </a:extLst>
          </p:cNvPr>
          <p:cNvSpPr>
            <a:spLocks xmlns:a="http://schemas.openxmlformats.org/drawingml/2006/main" noGrp="1"/>
          </p:cNvSpPr>
          <p:nvPr/>
        </p:nvSpPr>
        <p:spPr>
          <a:xfrm xmlns:a="http://schemas.openxmlformats.org/drawingml/2006/main">
            <a:off x="704850" y="33242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Latest shop voice attempt: Partial</a:t>
            </a:r>
          </a:p>
        </p:txBody>
      </p:sp>
      <p:sp>
        <p:nvSpPr>
          <p:cNvPr id="8" name="">
            <a:extLst xmlns:a="http://schemas.openxmlformats.org/drawingml/2006/main">
              <a:ext uri="{FF2B5EF4-FFF2-40B4-BE49-F238E27FC236}">
                <a16:creationId xmlns:a16="http://schemas.microsoft.com/office/drawing/2014/main" id="{029E1870-C0AF-47FD-8818-B7EC03D246C3}"/>
              </a:ext>
            </a:extLst>
          </p:cNvPr>
          <p:cNvSpPr>
            <a:spLocks xmlns:a="http://schemas.openxmlformats.org/drawingml/2006/main" noGrp="1"/>
          </p:cNvSpPr>
          <p:nvPr/>
        </p:nvSpPr>
        <p:spPr>
          <a:xfrm xmlns:a="http://schemas.openxmlformats.org/drawingml/2006/main">
            <a:off x="704850" y="38004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The teammate asked whether another color was acceptable.</a:t>
            </a:r>
          </a:p>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The assistant skipped the relay and repeated questions.</a:t>
            </a:r>
          </a:p>
        </p:txBody>
      </p:sp>
      <p:sp>
        <p:nvSpPr>
          <p:cNvPr id="9" name="">
            <a:extLst xmlns:a="http://schemas.openxmlformats.org/drawingml/2006/main">
              <a:ext uri="{FF2B5EF4-FFF2-40B4-BE49-F238E27FC236}">
                <a16:creationId xmlns:a16="http://schemas.microsoft.com/office/drawing/2014/main" id="{3B05CD7A-91B3-4B51-A428-42820148B4DA}"/>
              </a:ext>
            </a:extLst>
          </p:cNvPr>
          <p:cNvSpPr>
            <a:spLocks xmlns:a="http://schemas.openxmlformats.org/drawingml/2006/main" noGrp="1"/>
          </p:cNvSpPr>
          <p:nvPr/>
        </p:nvSpPr>
        <p:spPr>
          <a:xfrm xmlns:a="http://schemas.openxmlformats.org/drawingml/2006/main">
            <a:off x="704850" y="50101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986224"/>
                </a:solidFill>
                <a:latin typeface="Arial"/>
                <a:ea typeface="Arial"/>
                <a:cs typeface="Arial"/>
              </a:defRPr>
            </a:pPr>
            <a:r>
              <a:rPr sz="2325" b="1">
                <a:solidFill>
                  <a:srgbClr val="986224"/>
                </a:solidFill>
                <a:latin typeface="Arial"/>
                <a:ea typeface="Arial"/>
                <a:cs typeface="Arial"/>
              </a:rPr>
              <a:t>Repairs tested, new live run pending</a:t>
            </a:r>
          </a:p>
        </p:txBody>
      </p:sp>
      <p:sp>
        <p:nvSpPr>
          <p:cNvPr id="10" name="">
            <a:extLst xmlns:a="http://schemas.openxmlformats.org/drawingml/2006/main">
              <a:ext uri="{FF2B5EF4-FFF2-40B4-BE49-F238E27FC236}">
                <a16:creationId xmlns:a16="http://schemas.microsoft.com/office/drawing/2014/main" id="{55ADC68D-DB29-4BC6-BFA7-D479B55616B9}"/>
              </a:ext>
            </a:extLst>
          </p:cNvPr>
          <p:cNvSpPr>
            <a:spLocks xmlns:a="http://schemas.openxmlformats.org/drawingml/2006/main" noGrp="1"/>
          </p:cNvSpPr>
          <p:nvPr/>
        </p:nvSpPr>
        <p:spPr>
          <a:xfrm xmlns:a="http://schemas.openxmlformats.org/drawingml/2006/main">
            <a:off x="704850" y="5486400"/>
            <a:ext cx="10763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986224"/>
                </a:solidFill>
                <a:latin typeface="Arial"/>
                <a:ea typeface="Arial"/>
                <a:cs typeface="Arial"/>
              </a:defRPr>
            </a:pPr>
            <a:r>
              <a:rPr sz="1950" b="0">
                <a:solidFill>
                  <a:srgbClr val="986224"/>
                </a:solidFill>
                <a:latin typeface="Arial"/>
                <a:ea typeface="Arial"/>
                <a:cs typeface="Arial"/>
              </a:rPr>
              <a:t>The recorded question replay now opens the chat relay.</a:t>
            </a:r>
          </a:p>
          <a:p xmlns:a="http://schemas.openxmlformats.org/drawingml/2006/main">
            <a:pPr>
              <a:defRPr sz="1950" b="0">
                <a:solidFill>
                  <a:srgbClr val="986224"/>
                </a:solidFill>
                <a:latin typeface="Arial"/>
                <a:ea typeface="Arial"/>
                <a:cs typeface="Arial"/>
              </a:defRPr>
            </a:pPr>
            <a:r>
              <a:rPr sz="1950" b="0">
                <a:solidFill>
                  <a:srgbClr val="986224"/>
                </a:solidFill>
                <a:latin typeface="Arial"/>
                <a:ea typeface="Arial"/>
                <a:cs typeface="Arial"/>
              </a:rPr>
              <a:t>Full microphone relay and confirmed ending remain unverified.</a:t>
            </a:r>
          </a:p>
        </p:txBody>
      </p:sp>
    </p:spTree>
    <p:extLst>
      <p:ext uri="{BB962C8B-B14F-4D97-AF65-F5344CB8AC3E}">
        <p14:creationId xmlns:p14="http://schemas.microsoft.com/office/powerpoint/2010/main" val="1478566741"/>
      </p:ext>
    </p:extLst>
  </p:cSld>
</p:sld>
</file>

<file path=ppt/slides/slide5.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6078EC-5C05-4815-A654-9028C13A7F81}"/>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Value hypothesis and scope</a:t>
            </a:r>
          </a:p>
        </p:txBody>
      </p:sp>
      <p:sp>
        <p:nvSpPr>
          <p:cNvPr id="2" name="">
            <a:extLst xmlns:a="http://schemas.openxmlformats.org/drawingml/2006/main">
              <a:ext uri="{FF2B5EF4-FFF2-40B4-BE49-F238E27FC236}">
                <a16:creationId xmlns:a16="http://schemas.microsoft.com/office/drawing/2014/main" id="{0A12C175-3263-444C-95B1-2EE21CE2F1F6}"/>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4D161BA2-5B6E-4BAB-9B7F-86A426849CB9}"/>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5 / 5</a:t>
            </a:r>
          </a:p>
        </p:txBody>
      </p:sp>
      <p:sp>
        <p:nvSpPr>
          <p:cNvPr id="4" name="">
            <a:extLst xmlns:a="http://schemas.openxmlformats.org/drawingml/2006/main">
              <a:ext uri="{FF2B5EF4-FFF2-40B4-BE49-F238E27FC236}">
                <a16:creationId xmlns:a16="http://schemas.microsoft.com/office/drawing/2014/main" id="{3E8B3088-691A-485B-A986-09386A16901F}"/>
              </a:ext>
            </a:extLst>
          </p:cNvPr>
          <p:cNvSpPr>
            <a:spLocks xmlns:a="http://schemas.openxmlformats.org/drawingml/2006/main" noGrp="1"/>
          </p:cNvSpPr>
          <p:nvPr/>
        </p:nvSpPr>
        <p:spPr>
          <a:xfrm xmlns:a="http://schemas.openxmlformats.org/drawingml/2006/main">
            <a:off x="704850" y="1704975"/>
            <a:ext cx="108108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Can a text conversation reduce the barrier</a:t>
            </a:r>
          </a:p>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to getting help from a Korean business?</a:t>
            </a:r>
          </a:p>
        </p:txBody>
      </p:sp>
      <p:sp>
        <p:nvSpPr>
          <p:cNvPr id="5" name="">
            <a:extLst xmlns:a="http://schemas.openxmlformats.org/drawingml/2006/main">
              <a:ext uri="{FF2B5EF4-FFF2-40B4-BE49-F238E27FC236}">
                <a16:creationId xmlns:a16="http://schemas.microsoft.com/office/drawing/2014/main" id="{19D9F5B9-5015-465B-A1A9-3E1EBF3454B5}"/>
              </a:ext>
            </a:extLst>
          </p:cNvPr>
          <p:cNvSpPr>
            <a:spLocks xmlns:a="http://schemas.openxmlformats.org/drawingml/2006/main" noGrp="1"/>
          </p:cNvSpPr>
          <p:nvPr/>
        </p:nvSpPr>
        <p:spPr>
          <a:xfrm xmlns:a="http://schemas.openxmlformats.org/drawingml/2006/main">
            <a:off x="704850" y="34004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986224"/>
                </a:solidFill>
                <a:latin typeface="Arial"/>
                <a:ea typeface="Arial"/>
                <a:cs typeface="Arial"/>
              </a:defRPr>
            </a:pPr>
            <a:r>
              <a:rPr sz="3225" b="1">
                <a:solidFill>
                  <a:srgbClr val="986224"/>
                </a:solidFill>
                <a:latin typeface="Arial"/>
                <a:ea typeface="Arial"/>
                <a:cs typeface="Arial"/>
              </a:rPr>
              <a:t>User value: Unverified</a:t>
            </a:r>
          </a:p>
        </p:txBody>
      </p:sp>
      <p:sp>
        <p:nvSpPr>
          <p:cNvPr id="6" name="">
            <a:extLst xmlns:a="http://schemas.openxmlformats.org/drawingml/2006/main">
              <a:ext uri="{FF2B5EF4-FFF2-40B4-BE49-F238E27FC236}">
                <a16:creationId xmlns:a16="http://schemas.microsoft.com/office/drawing/2014/main" id="{72A621F2-17D3-4EDE-9F15-DE0631BD4BC1}"/>
              </a:ext>
            </a:extLst>
          </p:cNvPr>
          <p:cNvSpPr>
            <a:spLocks xmlns:a="http://schemas.openxmlformats.org/drawingml/2006/main" noGrp="1"/>
          </p:cNvSpPr>
          <p:nvPr/>
        </p:nvSpPr>
        <p:spPr>
          <a:xfrm xmlns:a="http://schemas.openxmlformats.org/drawingml/2006/main">
            <a:off x="704850" y="40767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No feedback from actual target users has been collected.</a:t>
            </a:r>
          </a:p>
        </p:txBody>
      </p:sp>
      <p:sp>
        <p:nvSpPr>
          <p:cNvPr id="7" name="">
            <a:extLst xmlns:a="http://schemas.openxmlformats.org/drawingml/2006/main">
              <a:ext uri="{FF2B5EF4-FFF2-40B4-BE49-F238E27FC236}">
                <a16:creationId xmlns:a16="http://schemas.microsoft.com/office/drawing/2014/main" id="{9B35EF9B-97F2-47E6-9C31-FCE1883DC0FF}"/>
              </a:ext>
            </a:extLst>
          </p:cNvPr>
          <p:cNvSpPr>
            <a:spLocks xmlns:a="http://schemas.openxmlformats.org/drawingml/2006/main" noGrp="1"/>
          </p:cNvSpPr>
          <p:nvPr/>
        </p:nvSpPr>
        <p:spPr>
          <a:xfrm xmlns:a="http://schemas.openxmlformats.org/drawingml/2006/main">
            <a:off x="704850" y="49530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Today’s scope</a:t>
            </a:r>
          </a:p>
        </p:txBody>
      </p:sp>
      <p:sp>
        <p:nvSpPr>
          <p:cNvPr id="8" name="">
            <a:extLst xmlns:a="http://schemas.openxmlformats.org/drawingml/2006/main">
              <a:ext uri="{FF2B5EF4-FFF2-40B4-BE49-F238E27FC236}">
                <a16:creationId xmlns:a16="http://schemas.microsoft.com/office/drawing/2014/main" id="{19039395-E0D4-4E7A-8247-9BBEF54A48FD}"/>
              </a:ext>
            </a:extLst>
          </p:cNvPr>
          <p:cNvSpPr>
            <a:spLocks xmlns:a="http://schemas.openxmlformats.org/drawingml/2006/main" noGrp="1"/>
          </p:cNvSpPr>
          <p:nvPr/>
        </p:nvSpPr>
        <p:spPr>
          <a:xfrm xmlns:a="http://schemas.openxmlformats.org/drawingml/2006/main">
            <a:off x="704850" y="54292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Fictional institutions. Simulated calls in two laptop tabs.</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No real calls, real discovery, or reception/doctor sheets.</a:t>
            </a:r>
          </a:p>
        </p:txBody>
      </p:sp>
    </p:spTree>
    <p:extLst>
      <p:ext uri="{BB962C8B-B14F-4D97-AF65-F5344CB8AC3E}">
        <p14:creationId xmlns:p14="http://schemas.microsoft.com/office/powerpoint/2010/main" val="2290499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2026-09-29T06:51:21.0050000Z</dcterms:created>
  <dcterms:modified xsi:type="dcterms:W3CDTF">2026-09-29T06:51:21.0050000Z</dcterms:modified>
</coreProperties>
</file>