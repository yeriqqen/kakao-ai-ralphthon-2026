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42150adb8cc4d54" /><Relationship Type="http://schemas.openxmlformats.org/officeDocument/2006/relationships/extended-properties" Target="/docProps/app.xml" Id="R25c215e4b9e44df0" /><Relationship Type="http://schemas.openxmlformats.org/officeDocument/2006/relationships/officeDocument" Target="/ppt/presentation.xml" Id="Rb6e06359c54c4a73" /></Relationships>
</file>

<file path=ppt/presentation.xml><?xml version="1.0" encoding="utf-8"?>
<p:presentation xmlns:p="http://schemas.openxmlformats.org/presentationml/2006/main">
  <p:sldMasterIdLst>
    <p:sldMasterId xmlns:r="http://schemas.openxmlformats.org/officeDocument/2006/relationships" id="2147483648" r:id="R6dedae6ec9dc455b"/>
  </p:sldMasterIdLst>
  <p:notesMasterIdLst>
    <p:notesMasterId xmlns:r="http://schemas.openxmlformats.org/officeDocument/2006/relationships" r:id="R9c40953a0d5c4b78"/>
  </p:notesMasterIdLst>
  <p:sldIdLst>
    <p:sldId xmlns:r="http://schemas.openxmlformats.org/officeDocument/2006/relationships" id="256" r:id="R10137f4603a0479b"/>
    <p:sldId xmlns:r="http://schemas.openxmlformats.org/officeDocument/2006/relationships" id="257" r:id="Rebcd7043317f4526"/>
    <p:sldId xmlns:r="http://schemas.openxmlformats.org/officeDocument/2006/relationships" id="258" r:id="Rde422c53234a421e"/>
    <p:sldId xmlns:r="http://schemas.openxmlformats.org/officeDocument/2006/relationships" id="259" r:id="Rc0c0560c1e714a3f"/>
    <p:sldId xmlns:r="http://schemas.openxmlformats.org/officeDocument/2006/relationships" id="260" r:id="R8cff28f51dff4b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0378779469470e" /><Relationship Type="http://schemas.openxmlformats.org/officeDocument/2006/relationships/slideMaster" Target="/ppt/slideMasters/slideMaster1.xml" Id="R6dedae6ec9dc455b" /><Relationship Type="http://schemas.openxmlformats.org/officeDocument/2006/relationships/notesMaster" Target="/ppt/notesMasters/notesMaster1.xml" Id="R9c40953a0d5c4b78" /><Relationship Type="http://schemas.openxmlformats.org/officeDocument/2006/relationships/presProps" Target="/ppt/presProps.xml" Id="R445d9942ad80434a" /><Relationship Type="http://schemas.openxmlformats.org/officeDocument/2006/relationships/tableStyles" Target="/ppt/tableStyles.xml" Id="R41151f8e5a0e41d9" /><Relationship Type="http://schemas.openxmlformats.org/officeDocument/2006/relationships/slide" Target="/ppt/slides/slide1.xml" Id="R10137f4603a0479b" /><Relationship Type="http://schemas.openxmlformats.org/officeDocument/2006/relationships/slide" Target="/ppt/slides/slide2.xml" Id="Rebcd7043317f4526" /><Relationship Type="http://schemas.openxmlformats.org/officeDocument/2006/relationships/slide" Target="/ppt/slides/slide3.xml" Id="Rde422c53234a421e" /><Relationship Type="http://schemas.openxmlformats.org/officeDocument/2006/relationships/slide" Target="/ppt/slides/slide4.xml" Id="Rc0c0560c1e714a3f" /><Relationship Type="http://schemas.openxmlformats.org/officeDocument/2006/relationships/slide" Target="/ppt/slides/slide5.xml" Id="R8cff28f51dff4b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4018696b0c45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530cbf77844483" /><Relationship Type="http://schemas.openxmlformats.org/officeDocument/2006/relationships/notesMaster" Target="/ppt/notesMasters/notesMaster1.xml" Id="Rcaa561e3149e4e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b44d2ad2c84c92" /><Relationship Type="http://schemas.openxmlformats.org/officeDocument/2006/relationships/notesMaster" Target="/ppt/notesMasters/notesMaster1.xml" Id="Ra85edeef4f5343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5208cb08d3477b" /><Relationship Type="http://schemas.openxmlformats.org/officeDocument/2006/relationships/notesMaster" Target="/ppt/notesMasters/notesMaster1.xml" Id="R3f30a36c07dd42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07975730cb4673" /><Relationship Type="http://schemas.openxmlformats.org/officeDocument/2006/relationships/notesMaster" Target="/ppt/notesMasters/notesMaster1.xml" Id="R61638fb8745540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d93e24375564db1" /><Relationship Type="http://schemas.openxmlformats.org/officeDocument/2006/relationships/notesMaster" Target="/ppt/notesMasters/notesMaster1.xml" Id="R0762f0fdc38c47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0:00–0:25. Explain the intended users and problem. This is a product hypothesis, not a claim of validated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0:25–0:55. Show the clean chat interface and language selection. The interview, institutions and required questions come from the model. These are intended runtime steps; the current verification status is on slide four.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0:55–2:00. Use the polished UI on PR #1. The fictional request asks for a navy waterproof daypack of about 20 liters, price and evening pickup. The customer authorizes and the teammate accepts. In the fourth actual microphone run, the teammate asked whether another color was acceptable. An English relay appeared, the human customer answered yes, and the Korean return was recorded. The plan still targeted navy and made an unsupported no-pickup inference, so the teammate disconnected. The repair updates affected questions and reuses applicable business answers. It also clarifies offered alternatives without waiting for an explicit question. A recorded-text real API replay passes, but normal live completion remains unverified. Show the actual result without presenting an interrupted run as success. Sources: docs/v2-pr1-review.md; artifacts/v2/pr1-live-shop-fourth-rehearsal.json; artifacts/v2/pr1-fourth-preference-replay.json. Raw records are retained for local review, not official upload.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2:00–2:30. Automated checks: 67 unit, 30 localhost HTTP with mocked AI and blocked upstream network, 20 mocked customer UI, 16 mocked business UI, and 32 design checks. The build and eight extracted-archive checks pass. Four actual PR microphone attempts were interrupted. The fourth demonstrated live relay and Korean return, but failed to adapt the current plan to the accepted color alternative. Repairs retain saved transcript metadata for confirmation, detect questions and alternative offers, update current question targets, retain applicable earlier answers and reject inferred answer updates. Three real API requests using recorded fourth-run statements and the actual customer reply passed six checks. An earlier failed replay omitted the resolved stock target and is preserved. Replays do not establish new microphone acceptance. A prior hospital attempt had explicit human audibility confirmation. English, Russian and Chinese UI coverage passes; real-model language fidelity has recorded limits. User value and complete live normal completion remain unverified. Sources: docs/v2-pr1-review.md and the referenced local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Team-defined YOKOBU v2 scope, including the later instruction to use separate tabs on this laptop instead of two actual phones. No real telephone calls or real institution search. User value is Unverified. Official submission: https://ralphthon.org/kakao-ai-dot-2026/#process . Official three-minute guide: https://ralphthon.org/kakao-ai-dot-2026/student-preparation.pdf .</a:t>
            </a:r>
          </a:p>
          <a:p xmlns:a="http://schemas.openxmlformats.org/drawingml/2006/main">
            <a:r>
              <a:t>2:30–3:00. Show the resulting summary and recommendation only if a real conversation has produced them. Explain unresolved information and testing limits. Describe the representative Codex contribution: dynamic state and authorization checks, language coverage, and explicit synthetic-vs-live evidence. Do not claim target-user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342cb41be74b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0edc976b6a4b1c" /><Relationship Type="http://schemas.openxmlformats.org/officeDocument/2006/relationships/slideLayout" Target="/ppt/slideLayouts/slideLayout1.xml" Id="Ra32bab5f58394b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2bab5f58394b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6543fe717a457a" /><Relationship Type="http://schemas.openxmlformats.org/officeDocument/2006/relationships/notesSlide" Target="/ppt/notesSlides/notesSlide1.xml" Id="Rdaf08fd554e54c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5ece6ed03348a5" /><Relationship Type="http://schemas.openxmlformats.org/officeDocument/2006/relationships/notesSlide" Target="/ppt/notesSlides/notesSlide2.xml" Id="R351746c0e9e54b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25ce053a01439f" /><Relationship Type="http://schemas.openxmlformats.org/officeDocument/2006/relationships/notesSlide" Target="/ppt/notesSlides/notesSlide3.xml" Id="Rf087fda5fabe4d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efeb934991459b" /><Relationship Type="http://schemas.openxmlformats.org/officeDocument/2006/relationships/notesSlide" Target="/ppt/notesSlides/notesSlide4.xml" Id="R2ff95779548b45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4bf6dbb7404a1b" /><Relationship Type="http://schemas.openxmlformats.org/officeDocument/2006/relationships/notesSlide" Target="/ppt/notesSlides/notesSlide5.xml" Id="Rfec29e2479b94bfd" /></Relationships>
</file>

<file path=ppt/slides/slide1.xml><?xml version="1.0" encoding="utf-8"?>
<p:sld xmlns:p="http://schemas.openxmlformats.org/presentationml/2006/main">
  <p:cSld>
    <p:bg>
      <p:bgPr>
        <a:solidFill xmlns:a="http://schemas.openxmlformats.org/drawingml/2006/main">
          <a:srgbClr val="1B5147"/>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B452076-CC9B-48FE-9A3E-C01DE525434C}"/>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YOKOBU v2 · Fictional institutions · Simulated calls only</a:t>
            </a:r>
          </a:p>
        </p:txBody>
      </p:sp>
      <p:sp>
        <p:nvSpPr>
          <p:cNvPr id="2" name="">
            <a:extLst xmlns:a="http://schemas.openxmlformats.org/drawingml/2006/main">
              <a:ext uri="{FF2B5EF4-FFF2-40B4-BE49-F238E27FC236}">
                <a16:creationId xmlns:a16="http://schemas.microsoft.com/office/drawing/2014/main" id="{BBD2A401-0EE1-461C-B427-8A072102460B}"/>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DDECCF"/>
                </a:solidFill>
                <a:latin typeface="Arial"/>
                <a:ea typeface="Arial"/>
                <a:cs typeface="Arial"/>
              </a:defRPr>
            </a:pPr>
            <a:r>
              <a:rPr sz="1425" b="0">
                <a:solidFill>
                  <a:srgbClr val="DDECCF"/>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C5720012-A651-4188-B8E5-7D8657322CDF}"/>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6300" b="1">
                <a:solidFill>
                  <a:srgbClr val="E4F4A2"/>
                </a:solidFill>
                <a:latin typeface="Arial"/>
                <a:ea typeface="Arial"/>
                <a:cs typeface="Arial"/>
              </a:defRPr>
            </a:pPr>
            <a:r>
              <a:rPr sz="6300" b="1">
                <a:solidFill>
                  <a:srgbClr val="E4F4A2"/>
                </a:solidFill>
                <a:latin typeface="Arial"/>
                <a:ea typeface="Arial"/>
                <a:cs typeface="Arial"/>
              </a:rPr>
              <a:t>YOKOBU</a:t>
            </a:r>
          </a:p>
        </p:txBody>
      </p:sp>
      <p:sp>
        <p:nvSpPr>
          <p:cNvPr id="4" name="">
            <a:extLst xmlns:a="http://schemas.openxmlformats.org/drawingml/2006/main">
              <a:ext uri="{FF2B5EF4-FFF2-40B4-BE49-F238E27FC236}">
                <a16:creationId xmlns:a16="http://schemas.microsoft.com/office/drawing/2014/main" id="{797FB837-4A76-4038-9110-9FE981C705BD}"/>
              </a:ext>
            </a:extLst>
          </p:cNvPr>
          <p:cNvSpPr>
            <a:spLocks xmlns:a="http://schemas.openxmlformats.org/drawingml/2006/main" noGrp="1"/>
          </p:cNvSpPr>
          <p:nvPr/>
        </p:nvSpPr>
        <p:spPr>
          <a:xfrm xmlns:a="http://schemas.openxmlformats.org/drawingml/2006/main">
            <a:off x="685800" y="1990725"/>
            <a:ext cx="108204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text interface for</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Korean business conversations</a:t>
            </a:r>
          </a:p>
        </p:txBody>
      </p:sp>
      <p:sp>
        <p:nvSpPr>
          <p:cNvPr id="5" name="">
            <a:extLst xmlns:a="http://schemas.openxmlformats.org/drawingml/2006/main">
              <a:ext uri="{FF2B5EF4-FFF2-40B4-BE49-F238E27FC236}">
                <a16:creationId xmlns:a16="http://schemas.microsoft.com/office/drawing/2014/main" id="{F2CC644B-41B2-43A9-8DA9-09600A14D8A3}"/>
              </a:ext>
            </a:extLst>
          </p:cNvPr>
          <p:cNvSpPr>
            <a:spLocks xmlns:a="http://schemas.openxmlformats.org/drawingml/2006/main" noGrp="1"/>
          </p:cNvSpPr>
          <p:nvPr/>
        </p:nvSpPr>
        <p:spPr>
          <a:xfrm xmlns:a="http://schemas.openxmlformats.org/drawingml/2006/main">
            <a:off x="723900" y="3943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For expats, tourists, and deaf or hard-of-hearing</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users in Korea who need information or help.</a:t>
            </a:r>
          </a:p>
        </p:txBody>
      </p:sp>
      <p:sp>
        <p:nvSpPr>
          <p:cNvPr id="6" name="">
            <a:extLst xmlns:a="http://schemas.openxmlformats.org/drawingml/2006/main">
              <a:ext uri="{FF2B5EF4-FFF2-40B4-BE49-F238E27FC236}">
                <a16:creationId xmlns:a16="http://schemas.microsoft.com/office/drawing/2014/main" id="{15B91186-54D4-4ADC-ADD0-257C6BC7C690}"/>
              </a:ext>
            </a:extLst>
          </p:cNvPr>
          <p:cNvSpPr>
            <a:spLocks xmlns:a="http://schemas.openxmlformats.org/drawingml/2006/main" noGrp="1"/>
          </p:cNvSpPr>
          <p:nvPr/>
        </p:nvSpPr>
        <p:spPr>
          <a:xfrm xmlns:a="http://schemas.openxmlformats.org/drawingml/2006/main">
            <a:off x="723900" y="5219700"/>
            <a:ext cx="10572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Language and accessibility barriers can prevent people</a:t>
            </a:r>
          </a:p>
          <a:p xmlns:a="http://schemas.openxmlformats.org/drawingml/2006/main">
            <a:pPr>
              <a:defRPr sz="2025" b="0">
                <a:solidFill>
                  <a:srgbClr val="DDECCF"/>
                </a:solidFill>
                <a:latin typeface="Arial"/>
                <a:ea typeface="Arial"/>
                <a:cs typeface="Arial"/>
              </a:defRPr>
            </a:pPr>
            <a:r>
              <a:rPr sz="2025" b="0">
                <a:solidFill>
                  <a:srgbClr val="DDECCF"/>
                </a:solidFill>
                <a:latin typeface="Arial"/>
                <a:ea typeface="Arial"/>
                <a:cs typeface="Arial"/>
              </a:rPr>
              <a:t>from getting the information they need by phone.</a:t>
            </a:r>
          </a:p>
        </p:txBody>
      </p:sp>
    </p:spTree>
    <p:extLst>
      <p:ext uri="{BB962C8B-B14F-4D97-AF65-F5344CB8AC3E}">
        <p14:creationId xmlns:p14="http://schemas.microsoft.com/office/powerpoint/2010/main" val="472249795"/>
      </p:ext>
    </p:extLst>
  </p:cSld>
</p:sld>
</file>

<file path=ppt/slides/slide2.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06CBCCB4-66A0-415C-9337-2FA3228AE404}"/>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customer experience</a:t>
            </a:r>
          </a:p>
        </p:txBody>
      </p:sp>
      <p:sp>
        <p:nvSpPr>
          <p:cNvPr id="2" name="">
            <a:extLst xmlns:a="http://schemas.openxmlformats.org/drawingml/2006/main">
              <a:ext uri="{FF2B5EF4-FFF2-40B4-BE49-F238E27FC236}">
                <a16:creationId xmlns:a16="http://schemas.microsoft.com/office/drawing/2014/main" id="{57C6FAFC-2FEE-4C5B-A3F5-042C459B1B39}"/>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3348F32B-BCC1-4AD1-8066-FAF8F47112CC}"/>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2 / 5</a:t>
            </a:r>
          </a:p>
        </p:txBody>
      </p:sp>
      <p:sp>
        <p:nvSpPr>
          <p:cNvPr id="4" name="">
            <a:extLst xmlns:a="http://schemas.openxmlformats.org/drawingml/2006/main">
              <a:ext uri="{FF2B5EF4-FFF2-40B4-BE49-F238E27FC236}">
                <a16:creationId xmlns:a16="http://schemas.microsoft.com/office/drawing/2014/main" id="{850B29B3-C66E-4E78-9F04-689304D6A910}"/>
              </a:ext>
            </a:extLst>
          </p:cNvPr>
          <p:cNvSpPr>
            <a:spLocks xmlns:a="http://schemas.openxmlformats.org/drawingml/2006/main" noGrp="1"/>
          </p:cNvSpPr>
          <p:nvPr/>
        </p:nvSpPr>
        <p:spPr>
          <a:xfrm xmlns:a="http://schemas.openxmlformats.org/drawingml/2006/main">
            <a:off x="704850" y="15906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8AAA7AE-048E-4391-9311-C001E87BB901}"/>
              </a:ext>
            </a:extLst>
          </p:cNvPr>
          <p:cNvSpPr>
            <a:spLocks xmlns:a="http://schemas.openxmlformats.org/drawingml/2006/main" noGrp="1"/>
          </p:cNvSpPr>
          <p:nvPr/>
        </p:nvSpPr>
        <p:spPr>
          <a:xfrm xmlns:a="http://schemas.openxmlformats.org/drawingml/2006/main">
            <a:off x="1647825" y="15906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Describe a need</a:t>
            </a:r>
          </a:p>
        </p:txBody>
      </p:sp>
      <p:sp>
        <p:nvSpPr>
          <p:cNvPr id="6" name="">
            <a:extLst xmlns:a="http://schemas.openxmlformats.org/drawingml/2006/main">
              <a:ext uri="{FF2B5EF4-FFF2-40B4-BE49-F238E27FC236}">
                <a16:creationId xmlns:a16="http://schemas.microsoft.com/office/drawing/2014/main" id="{63DEACBB-A1F2-4CD7-AFEC-87F11FF9278D}"/>
              </a:ext>
            </a:extLst>
          </p:cNvPr>
          <p:cNvSpPr>
            <a:spLocks xmlns:a="http://schemas.openxmlformats.org/drawingml/2006/main" noGrp="1"/>
          </p:cNvSpPr>
          <p:nvPr/>
        </p:nvSpPr>
        <p:spPr>
          <a:xfrm xmlns:a="http://schemas.openxmlformats.org/drawingml/2006/main">
            <a:off x="1666875" y="20097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English by default, with Russian and Chinese options.</a:t>
            </a:r>
          </a:p>
        </p:txBody>
      </p:sp>
      <p:sp>
        <p:nvSpPr>
          <p:cNvPr id="7" name="">
            <a:extLst xmlns:a="http://schemas.openxmlformats.org/drawingml/2006/main">
              <a:ext uri="{FF2B5EF4-FFF2-40B4-BE49-F238E27FC236}">
                <a16:creationId xmlns:a16="http://schemas.microsoft.com/office/drawing/2014/main" id="{D14FF59F-0629-41DE-B8F3-4CA8DB61A93D}"/>
              </a:ext>
            </a:extLst>
          </p:cNvPr>
          <p:cNvSpPr>
            <a:spLocks xmlns:a="http://schemas.openxmlformats.org/drawingml/2006/main" noGrp="1"/>
          </p:cNvSpPr>
          <p:nvPr/>
        </p:nvSpPr>
        <p:spPr>
          <a:xfrm xmlns:a="http://schemas.openxmlformats.org/drawingml/2006/main">
            <a:off x="704850" y="247650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06641C8-1EDF-4BE0-9A7C-9A3085F9217D}"/>
              </a:ext>
            </a:extLst>
          </p:cNvPr>
          <p:cNvSpPr>
            <a:spLocks xmlns:a="http://schemas.openxmlformats.org/drawingml/2006/main" noGrp="1"/>
          </p:cNvSpPr>
          <p:nvPr/>
        </p:nvSpPr>
        <p:spPr>
          <a:xfrm xmlns:a="http://schemas.openxmlformats.org/drawingml/2006/main">
            <a:off x="1647825" y="247650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Clarify through chat</a:t>
            </a:r>
          </a:p>
        </p:txBody>
      </p:sp>
      <p:sp>
        <p:nvSpPr>
          <p:cNvPr id="9" name="">
            <a:extLst xmlns:a="http://schemas.openxmlformats.org/drawingml/2006/main">
              <a:ext uri="{FF2B5EF4-FFF2-40B4-BE49-F238E27FC236}">
                <a16:creationId xmlns:a16="http://schemas.microsoft.com/office/drawing/2014/main" id="{13EDB9E5-FCBF-4096-A2C0-45CA82C948AD}"/>
              </a:ext>
            </a:extLst>
          </p:cNvPr>
          <p:cNvSpPr>
            <a:spLocks xmlns:a="http://schemas.openxmlformats.org/drawingml/2006/main" noGrp="1"/>
          </p:cNvSpPr>
          <p:nvPr/>
        </p:nvSpPr>
        <p:spPr>
          <a:xfrm xmlns:a="http://schemas.openxmlformats.org/drawingml/2006/main">
            <a:off x="1666875" y="289560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OpenAI generates the interview and a concrete call plan.</a:t>
            </a:r>
          </a:p>
        </p:txBody>
      </p:sp>
      <p:sp>
        <p:nvSpPr>
          <p:cNvPr id="10" name="">
            <a:extLst xmlns:a="http://schemas.openxmlformats.org/drawingml/2006/main">
              <a:ext uri="{FF2B5EF4-FFF2-40B4-BE49-F238E27FC236}">
                <a16:creationId xmlns:a16="http://schemas.microsoft.com/office/drawing/2014/main" id="{81D7EED9-2E70-4C8E-AF92-5A93182735FF}"/>
              </a:ext>
            </a:extLst>
          </p:cNvPr>
          <p:cNvSpPr>
            <a:spLocks xmlns:a="http://schemas.openxmlformats.org/drawingml/2006/main" noGrp="1"/>
          </p:cNvSpPr>
          <p:nvPr/>
        </p:nvSpPr>
        <p:spPr>
          <a:xfrm xmlns:a="http://schemas.openxmlformats.org/drawingml/2006/main">
            <a:off x="704850" y="336232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6C3619A-5521-4C1C-A1EE-576FC9ACA76E}"/>
              </a:ext>
            </a:extLst>
          </p:cNvPr>
          <p:cNvSpPr>
            <a:spLocks xmlns:a="http://schemas.openxmlformats.org/drawingml/2006/main" noGrp="1"/>
          </p:cNvSpPr>
          <p:nvPr/>
        </p:nvSpPr>
        <p:spPr>
          <a:xfrm xmlns:a="http://schemas.openxmlformats.org/drawingml/2006/main">
            <a:off x="1647825" y="336232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Review and authorize</a:t>
            </a:r>
          </a:p>
        </p:txBody>
      </p:sp>
      <p:sp>
        <p:nvSpPr>
          <p:cNvPr id="12" name="">
            <a:extLst xmlns:a="http://schemas.openxmlformats.org/drawingml/2006/main">
              <a:ext uri="{FF2B5EF4-FFF2-40B4-BE49-F238E27FC236}">
                <a16:creationId xmlns:a16="http://schemas.microsoft.com/office/drawing/2014/main" id="{3395779B-1767-4713-BBCD-B9F480A2EC5B}"/>
              </a:ext>
            </a:extLst>
          </p:cNvPr>
          <p:cNvSpPr>
            <a:spLocks xmlns:a="http://schemas.openxmlformats.org/drawingml/2006/main" noGrp="1"/>
          </p:cNvSpPr>
          <p:nvPr/>
        </p:nvSpPr>
        <p:spPr>
          <a:xfrm xmlns:a="http://schemas.openxmlformats.org/drawingml/2006/main">
            <a:off x="1666875" y="378142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Choose a fictional institution, then explicitly say Yes.</a:t>
            </a:r>
          </a:p>
        </p:txBody>
      </p:sp>
      <p:sp>
        <p:nvSpPr>
          <p:cNvPr id="13" name="">
            <a:extLst xmlns:a="http://schemas.openxmlformats.org/drawingml/2006/main">
              <a:ext uri="{FF2B5EF4-FFF2-40B4-BE49-F238E27FC236}">
                <a16:creationId xmlns:a16="http://schemas.microsoft.com/office/drawing/2014/main" id="{4643195B-F927-4862-8611-F358FFD445F0}"/>
              </a:ext>
            </a:extLst>
          </p:cNvPr>
          <p:cNvSpPr>
            <a:spLocks xmlns:a="http://schemas.openxmlformats.org/drawingml/2006/main" noGrp="1"/>
          </p:cNvSpPr>
          <p:nvPr/>
        </p:nvSpPr>
        <p:spPr>
          <a:xfrm xmlns:a="http://schemas.openxmlformats.org/drawingml/2006/main">
            <a:off x="704850" y="4248150"/>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FD21A02-7AE8-465F-90B6-497700AFA5FD}"/>
              </a:ext>
            </a:extLst>
          </p:cNvPr>
          <p:cNvSpPr>
            <a:spLocks xmlns:a="http://schemas.openxmlformats.org/drawingml/2006/main" noGrp="1"/>
          </p:cNvSpPr>
          <p:nvPr/>
        </p:nvSpPr>
        <p:spPr>
          <a:xfrm xmlns:a="http://schemas.openxmlformats.org/drawingml/2006/main">
            <a:off x="1647825" y="4248150"/>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Resolve questions in Korean</a:t>
            </a:r>
          </a:p>
        </p:txBody>
      </p:sp>
      <p:sp>
        <p:nvSpPr>
          <p:cNvPr id="15" name="">
            <a:extLst xmlns:a="http://schemas.openxmlformats.org/drawingml/2006/main">
              <a:ext uri="{FF2B5EF4-FFF2-40B4-BE49-F238E27FC236}">
                <a16:creationId xmlns:a16="http://schemas.microsoft.com/office/drawing/2014/main" id="{608D730B-2E63-4CF7-91AD-EABB84B3EB6D}"/>
              </a:ext>
            </a:extLst>
          </p:cNvPr>
          <p:cNvSpPr>
            <a:spLocks xmlns:a="http://schemas.openxmlformats.org/drawingml/2006/main" noGrp="1"/>
          </p:cNvSpPr>
          <p:nvPr/>
        </p:nvSpPr>
        <p:spPr>
          <a:xfrm xmlns:a="http://schemas.openxmlformats.org/drawingml/2006/main">
            <a:off x="1666875" y="4667250"/>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Realtime voice speaks to the teammate. Unknown details return to chat.</a:t>
            </a:r>
          </a:p>
        </p:txBody>
      </p:sp>
      <p:sp>
        <p:nvSpPr>
          <p:cNvPr id="16" name="">
            <a:extLst xmlns:a="http://schemas.openxmlformats.org/drawingml/2006/main">
              <a:ext uri="{FF2B5EF4-FFF2-40B4-BE49-F238E27FC236}">
                <a16:creationId xmlns:a16="http://schemas.microsoft.com/office/drawing/2014/main" id="{1EC87FBF-7CDB-49D2-8B18-F9721E7D1980}"/>
              </a:ext>
            </a:extLst>
          </p:cNvPr>
          <p:cNvSpPr>
            <a:spLocks xmlns:a="http://schemas.openxmlformats.org/drawingml/2006/main" noGrp="1"/>
          </p:cNvSpPr>
          <p:nvPr/>
        </p:nvSpPr>
        <p:spPr>
          <a:xfrm xmlns:a="http://schemas.openxmlformats.org/drawingml/2006/main">
            <a:off x="704850" y="5133975"/>
            <a:ext cx="78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850" b="0">
                <a:solidFill>
                  <a:srgbClr val="64756D"/>
                </a:solidFill>
                <a:latin typeface="Arial"/>
                <a:ea typeface="Arial"/>
                <a:cs typeface="Arial"/>
              </a:defRPr>
            </a:pPr>
            <a:r>
              <a:rPr sz="2850" b="0">
                <a:solidFill>
                  <a:srgbClr val="64756D"/>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4C4CA184-FCD8-43C2-847D-2A7CD33589B0}"/>
              </a:ext>
            </a:extLst>
          </p:cNvPr>
          <p:cNvSpPr>
            <a:spLocks xmlns:a="http://schemas.openxmlformats.org/drawingml/2006/main" noGrp="1"/>
          </p:cNvSpPr>
          <p:nvPr/>
        </p:nvSpPr>
        <p:spPr>
          <a:xfrm xmlns:a="http://schemas.openxmlformats.org/drawingml/2006/main">
            <a:off x="1647825" y="5133975"/>
            <a:ext cx="98488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Receive the result</a:t>
            </a:r>
          </a:p>
        </p:txBody>
      </p:sp>
      <p:sp>
        <p:nvSpPr>
          <p:cNvPr id="18" name="">
            <a:extLst xmlns:a="http://schemas.openxmlformats.org/drawingml/2006/main">
              <a:ext uri="{FF2B5EF4-FFF2-40B4-BE49-F238E27FC236}">
                <a16:creationId xmlns:a16="http://schemas.microsoft.com/office/drawing/2014/main" id="{22AD819D-AF25-4D5B-ACD4-9BDBB021FFAA}"/>
              </a:ext>
            </a:extLst>
          </p:cNvPr>
          <p:cNvSpPr>
            <a:spLocks xmlns:a="http://schemas.openxmlformats.org/drawingml/2006/main" noGrp="1"/>
          </p:cNvSpPr>
          <p:nvPr/>
        </p:nvSpPr>
        <p:spPr>
          <a:xfrm xmlns:a="http://schemas.openxmlformats.org/drawingml/2006/main">
            <a:off x="1666875" y="5553075"/>
            <a:ext cx="9734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64756D"/>
                </a:solidFill>
                <a:latin typeface="Arial"/>
                <a:ea typeface="Arial"/>
                <a:cs typeface="Arial"/>
              </a:defRPr>
            </a:pPr>
            <a:r>
              <a:rPr sz="1875" b="0">
                <a:solidFill>
                  <a:srgbClr val="64756D"/>
                </a:solidFill>
                <a:latin typeface="Arial"/>
                <a:ea typeface="Arial"/>
                <a:cs typeface="Arial"/>
              </a:rPr>
              <a:t>A conversation-grounded summary and a reasoned recommendation.</a:t>
            </a:r>
          </a:p>
        </p:txBody>
      </p:sp>
    </p:spTree>
    <p:extLst>
      <p:ext uri="{BB962C8B-B14F-4D97-AF65-F5344CB8AC3E}">
        <p14:creationId xmlns:p14="http://schemas.microsoft.com/office/powerpoint/2010/main" val="644771118"/>
      </p:ext>
    </p:extLst>
  </p:cSld>
</p:sld>
</file>

<file path=ppt/slides/slide3.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B1C23E-3429-47E0-98AE-5817C81CED54}"/>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The laptop demonstration</a:t>
            </a:r>
          </a:p>
        </p:txBody>
      </p:sp>
      <p:sp>
        <p:nvSpPr>
          <p:cNvPr id="2" name="">
            <a:extLst xmlns:a="http://schemas.openxmlformats.org/drawingml/2006/main">
              <a:ext uri="{FF2B5EF4-FFF2-40B4-BE49-F238E27FC236}">
                <a16:creationId xmlns:a16="http://schemas.microsoft.com/office/drawing/2014/main" id="{2CC091AB-F812-45A6-AF60-DDC396EF7570}"/>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7B2C0B5F-566F-4C29-A25A-DFE76323AFB2}"/>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3 / 5</a:t>
            </a:r>
          </a:p>
        </p:txBody>
      </p:sp>
      <p:sp>
        <p:nvSpPr>
          <p:cNvPr id="4" name="">
            <a:extLst xmlns:a="http://schemas.openxmlformats.org/drawingml/2006/main">
              <a:ext uri="{FF2B5EF4-FFF2-40B4-BE49-F238E27FC236}">
                <a16:creationId xmlns:a16="http://schemas.microsoft.com/office/drawing/2014/main" id="{9C05D4AF-B669-48F0-BE88-647F0A9D2154}"/>
              </a:ext>
            </a:extLst>
          </p:cNvPr>
          <p:cNvSpPr>
            <a:spLocks xmlns:a="http://schemas.openxmlformats.org/drawingml/2006/main" noGrp="1"/>
          </p:cNvSpPr>
          <p:nvPr/>
        </p:nvSpPr>
        <p:spPr>
          <a:xfrm xmlns:a="http://schemas.openxmlformats.org/drawingml/2006/main">
            <a:off x="704850" y="13620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986224"/>
                </a:solidFill>
                <a:latin typeface="Arial"/>
                <a:ea typeface="Arial"/>
                <a:cs typeface="Arial"/>
              </a:defRPr>
            </a:pPr>
            <a:r>
              <a:rPr sz="1875" b="1">
                <a:solidFill>
                  <a:srgbClr val="986224"/>
                </a:solidFill>
                <a:latin typeface="Arial"/>
                <a:ea typeface="Arial"/>
                <a:cs typeface="Arial"/>
              </a:rPr>
              <a:t>Live shop rehearsal remains incomplete</a:t>
            </a:r>
          </a:p>
        </p:txBody>
      </p:sp>
      <p:sp>
        <p:nvSpPr>
          <p:cNvPr id="5" name="">
            <a:extLst xmlns:a="http://schemas.openxmlformats.org/drawingml/2006/main">
              <a:ext uri="{FF2B5EF4-FFF2-40B4-BE49-F238E27FC236}">
                <a16:creationId xmlns:a16="http://schemas.microsoft.com/office/drawing/2014/main" id="{80D9C4A9-1069-432A-8C07-BC10F7F88B20}"/>
              </a:ext>
            </a:extLst>
          </p:cNvPr>
          <p:cNvSpPr>
            <a:spLocks xmlns:a="http://schemas.openxmlformats.org/drawingml/2006/main" noGrp="1"/>
          </p:cNvSpPr>
          <p:nvPr/>
        </p:nvSpPr>
        <p:spPr>
          <a:xfrm xmlns:a="http://schemas.openxmlformats.org/drawingml/2006/main">
            <a:off x="704850" y="212407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CUSTOMER TAB</a:t>
            </a:r>
          </a:p>
        </p:txBody>
      </p:sp>
      <p:sp>
        <p:nvSpPr>
          <p:cNvPr id="6" name="">
            <a:extLst xmlns:a="http://schemas.openxmlformats.org/drawingml/2006/main">
              <a:ext uri="{FF2B5EF4-FFF2-40B4-BE49-F238E27FC236}">
                <a16:creationId xmlns:a16="http://schemas.microsoft.com/office/drawing/2014/main" id="{D9DC5EA3-6C9E-486A-990D-84615C8739CF}"/>
              </a:ext>
            </a:extLst>
          </p:cNvPr>
          <p:cNvSpPr>
            <a:spLocks xmlns:a="http://schemas.openxmlformats.org/drawingml/2006/main" noGrp="1"/>
          </p:cNvSpPr>
          <p:nvPr/>
        </p:nvSpPr>
        <p:spPr>
          <a:xfrm xmlns:a="http://schemas.openxmlformats.org/drawingml/2006/main">
            <a:off x="704850" y="2638425"/>
            <a:ext cx="5448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“Can you help me check whether</a:t>
            </a:r>
          </a:p>
          <a:p xmlns:a="http://schemas.openxmlformats.org/drawingml/2006/main">
            <a:pPr>
              <a:defRPr sz="2400" b="1">
                <a:solidFill>
                  <a:srgbClr val="1B5147"/>
                </a:solidFill>
                <a:latin typeface="Arial"/>
                <a:ea typeface="Arial"/>
                <a:cs typeface="Arial"/>
              </a:defRPr>
            </a:pPr>
            <a:r>
              <a:rPr sz="2400" b="1">
                <a:solidFill>
                  <a:srgbClr val="1B5147"/>
                </a:solidFill>
                <a:latin typeface="Arial"/>
                <a:ea typeface="Arial"/>
                <a:cs typeface="Arial"/>
              </a:rPr>
              <a:t>a shop has an item in stock?”</a:t>
            </a:r>
          </a:p>
        </p:txBody>
      </p:sp>
      <p:sp>
        <p:nvSpPr>
          <p:cNvPr id="7" name="">
            <a:extLst xmlns:a="http://schemas.openxmlformats.org/drawingml/2006/main">
              <a:ext uri="{FF2B5EF4-FFF2-40B4-BE49-F238E27FC236}">
                <a16:creationId xmlns:a16="http://schemas.microsoft.com/office/drawing/2014/main" id="{842E5C8E-36E7-4785-A78D-3DAB7E66F51E}"/>
              </a:ext>
            </a:extLst>
          </p:cNvPr>
          <p:cNvSpPr>
            <a:spLocks xmlns:a="http://schemas.openxmlformats.org/drawingml/2006/main" noGrp="1"/>
          </p:cNvSpPr>
          <p:nvPr/>
        </p:nvSpPr>
        <p:spPr>
          <a:xfrm xmlns:a="http://schemas.openxmlformats.org/drawingml/2006/main">
            <a:off x="704850" y="3648075"/>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Answer the AI’s questions.</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Review the plan and authorize.</a:t>
            </a:r>
          </a:p>
          <a:p xmlns:a="http://schemas.openxmlformats.org/drawingml/2006/main">
            <a:pPr>
              <a:defRPr sz="2175" b="0">
                <a:solidFill>
                  <a:srgbClr val="1B5147"/>
                </a:solidFill>
                <a:latin typeface="Arial"/>
                <a:ea typeface="Arial"/>
                <a:cs typeface="Arial"/>
              </a:defRPr>
            </a:pPr>
            <a:r>
              <a:rPr sz="2175" b="0">
                <a:solidFill>
                  <a:srgbClr val="1B5147"/>
                </a:solidFill>
                <a:latin typeface="Arial"/>
                <a:ea typeface="Arial"/>
                <a:cs typeface="Arial"/>
              </a:rPr>
              <a:t>Reply to unknown details in chat.</a:t>
            </a:r>
          </a:p>
        </p:txBody>
      </p:sp>
      <p:sp>
        <p:nvSpPr>
          <p:cNvPr id="8" name="">
            <a:extLst xmlns:a="http://schemas.openxmlformats.org/drawingml/2006/main">
              <a:ext uri="{FF2B5EF4-FFF2-40B4-BE49-F238E27FC236}">
                <a16:creationId xmlns:a16="http://schemas.microsoft.com/office/drawing/2014/main" id="{DEEEB8D6-85E1-4175-A838-346903C034D1}"/>
              </a:ext>
            </a:extLst>
          </p:cNvPr>
          <p:cNvSpPr>
            <a:spLocks xmlns:a="http://schemas.openxmlformats.org/drawingml/2006/main" noGrp="1"/>
          </p:cNvSpPr>
          <p:nvPr/>
        </p:nvSpPr>
        <p:spPr>
          <a:xfrm xmlns:a="http://schemas.openxmlformats.org/drawingml/2006/main">
            <a:off x="6800850" y="2124075"/>
            <a:ext cx="4695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64756D"/>
                </a:solidFill>
                <a:latin typeface="Arial"/>
                <a:ea typeface="Arial"/>
                <a:cs typeface="Arial"/>
              </a:defRPr>
            </a:pPr>
            <a:r>
              <a:rPr sz="1800" b="1">
                <a:solidFill>
                  <a:srgbClr val="64756D"/>
                </a:solidFill>
                <a:latin typeface="Arial"/>
                <a:ea typeface="Arial"/>
                <a:cs typeface="Arial"/>
              </a:rPr>
              <a:t>BUSINESS TAB</a:t>
            </a:r>
          </a:p>
        </p:txBody>
      </p:sp>
      <p:sp>
        <p:nvSpPr>
          <p:cNvPr id="9" name="">
            <a:extLst xmlns:a="http://schemas.openxmlformats.org/drawingml/2006/main">
              <a:ext uri="{FF2B5EF4-FFF2-40B4-BE49-F238E27FC236}">
                <a16:creationId xmlns:a16="http://schemas.microsoft.com/office/drawing/2014/main" id="{A92285BA-7BE0-4F4E-A317-4383559B4475}"/>
              </a:ext>
            </a:extLst>
          </p:cNvPr>
          <p:cNvSpPr>
            <a:spLocks xmlns:a="http://schemas.openxmlformats.org/drawingml/2006/main" noGrp="1"/>
          </p:cNvSpPr>
          <p:nvPr/>
        </p:nvSpPr>
        <p:spPr>
          <a:xfrm xmlns:a="http://schemas.openxmlformats.org/drawingml/2006/main">
            <a:off x="6800850" y="263842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Inactive until authorized</a:t>
            </a:r>
          </a:p>
          <a:p xmlns:a="http://schemas.openxmlformats.org/drawingml/2006/main">
            <a:pPr>
              <a:defRPr sz="2550" b="1">
                <a:solidFill>
                  <a:srgbClr val="1B5147"/>
                </a:solidFill>
                <a:latin typeface="Arial"/>
                <a:ea typeface="Arial"/>
                <a:cs typeface="Arial"/>
              </a:defRPr>
            </a:pPr>
            <a:r>
              <a:rPr sz="2550" b="1">
                <a:solidFill>
                  <a:srgbClr val="1B5147"/>
                </a:solidFill>
                <a:latin typeface="Arial"/>
                <a:ea typeface="Arial"/>
                <a:cs typeface="Arial"/>
              </a:rPr>
              <a:t>and accepted</a:t>
            </a:r>
          </a:p>
        </p:txBody>
      </p:sp>
      <p:sp>
        <p:nvSpPr>
          <p:cNvPr id="10" name="">
            <a:extLst xmlns:a="http://schemas.openxmlformats.org/drawingml/2006/main">
              <a:ext uri="{FF2B5EF4-FFF2-40B4-BE49-F238E27FC236}">
                <a16:creationId xmlns:a16="http://schemas.microsoft.com/office/drawing/2014/main" id="{63E997A7-70BA-4231-AA02-590DB2F9C517}"/>
              </a:ext>
            </a:extLst>
          </p:cNvPr>
          <p:cNvSpPr>
            <a:spLocks xmlns:a="http://schemas.openxmlformats.org/drawingml/2006/main" noGrp="1"/>
          </p:cNvSpPr>
          <p:nvPr/>
        </p:nvSpPr>
        <p:spPr>
          <a:xfrm xmlns:a="http://schemas.openxmlformats.org/drawingml/2006/main">
            <a:off x="6800850" y="3686175"/>
            <a:ext cx="46863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The teammate accepts the call.</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Speak Korean through the laptop’s</a:t>
            </a:r>
          </a:p>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microphone and speaker.</a:t>
            </a:r>
          </a:p>
        </p:txBody>
      </p:sp>
      <p:sp>
        <p:nvSpPr>
          <p:cNvPr id="11" name="">
            <a:extLst xmlns:a="http://schemas.openxmlformats.org/drawingml/2006/main">
              <a:ext uri="{FF2B5EF4-FFF2-40B4-BE49-F238E27FC236}">
                <a16:creationId xmlns:a16="http://schemas.microsoft.com/office/drawing/2014/main" id="{F816D4A1-D266-4CAF-85C4-2D7D48A66A98}"/>
              </a:ext>
            </a:extLst>
          </p:cNvPr>
          <p:cNvSpPr>
            <a:spLocks xmlns:a="http://schemas.openxmlformats.org/drawingml/2006/main" noGrp="1"/>
          </p:cNvSpPr>
          <p:nvPr/>
        </p:nvSpPr>
        <p:spPr>
          <a:xfrm xmlns:a="http://schemas.openxmlformats.org/drawingml/2006/main">
            <a:off x="704850" y="5172075"/>
            <a:ext cx="10753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Navy is known. Whether black is acceptable is still unknown.</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The live relay returned the answer in Korean; completion still needs work.</a:t>
            </a:r>
          </a:p>
        </p:txBody>
      </p:sp>
      <p:sp>
        <p:nvSpPr>
          <p:cNvPr id="12" name="">
            <a:extLst xmlns:a="http://schemas.openxmlformats.org/drawingml/2006/main">
              <a:ext uri="{FF2B5EF4-FFF2-40B4-BE49-F238E27FC236}">
                <a16:creationId xmlns:a16="http://schemas.microsoft.com/office/drawing/2014/main" id="{CCAFD644-339B-43A8-8FAB-20A5A5ED9ED5}"/>
              </a:ext>
            </a:extLst>
          </p:cNvPr>
          <p:cNvSpPr>
            <a:spLocks xmlns:a="http://schemas.openxmlformats.org/drawingml/2006/main" noGrp="1"/>
          </p:cNvSpPr>
          <p:nvPr/>
        </p:nvSpPr>
        <p:spPr>
          <a:xfrm xmlns:a="http://schemas.openxmlformats.org/drawingml/2006/main">
            <a:off x="704850" y="5943600"/>
            <a:ext cx="107537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Completion requires every required answer and a confirmed readback.</a:t>
            </a:r>
          </a:p>
        </p:txBody>
      </p:sp>
    </p:spTree>
    <p:extLst>
      <p:ext uri="{BB962C8B-B14F-4D97-AF65-F5344CB8AC3E}">
        <p14:creationId xmlns:p14="http://schemas.microsoft.com/office/powerpoint/2010/main" val="967566855"/>
      </p:ext>
    </p:extLst>
  </p:cSld>
</p:sld>
</file>

<file path=ppt/slides/slide4.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43F29F-8A4E-455D-81DA-2BD58FEEE42D}"/>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Codex work and verification</a:t>
            </a:r>
          </a:p>
        </p:txBody>
      </p:sp>
      <p:sp>
        <p:nvSpPr>
          <p:cNvPr id="2" name="">
            <a:extLst xmlns:a="http://schemas.openxmlformats.org/drawingml/2006/main">
              <a:ext uri="{FF2B5EF4-FFF2-40B4-BE49-F238E27FC236}">
                <a16:creationId xmlns:a16="http://schemas.microsoft.com/office/drawing/2014/main" id="{EFC1925D-A145-47FF-8E19-25F433A10E49}"/>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BA7D5A54-31B0-40D4-A67C-580BF39325AA}"/>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4 / 5</a:t>
            </a:r>
          </a:p>
        </p:txBody>
      </p:sp>
      <p:sp>
        <p:nvSpPr>
          <p:cNvPr id="4" name="">
            <a:extLst xmlns:a="http://schemas.openxmlformats.org/drawingml/2006/main">
              <a:ext uri="{FF2B5EF4-FFF2-40B4-BE49-F238E27FC236}">
                <a16:creationId xmlns:a16="http://schemas.microsoft.com/office/drawing/2014/main" id="{685D0BE9-EFA3-4D7D-B146-94B8C5AE2BEE}"/>
              </a:ext>
            </a:extLst>
          </p:cNvPr>
          <p:cNvSpPr>
            <a:spLocks xmlns:a="http://schemas.openxmlformats.org/drawingml/2006/main" noGrp="1"/>
          </p:cNvSpPr>
          <p:nvPr/>
        </p:nvSpPr>
        <p:spPr>
          <a:xfrm xmlns:a="http://schemas.openxmlformats.org/drawingml/2006/main">
            <a:off x="704850" y="14954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1">
                <a:solidFill>
                  <a:srgbClr val="1B5147"/>
                </a:solidFill>
                <a:latin typeface="Arial"/>
                <a:ea typeface="Arial"/>
                <a:cs typeface="Arial"/>
              </a:defRPr>
            </a:pPr>
            <a:r>
              <a:rPr sz="2250" b="1">
                <a:solidFill>
                  <a:srgbClr val="1B5147"/>
                </a:solidFill>
                <a:latin typeface="Arial"/>
                <a:ea typeface="Arial"/>
                <a:cs typeface="Arial"/>
              </a:rPr>
              <a:t>Codex built the chat, call state, and test harnesses</a:t>
            </a:r>
          </a:p>
        </p:txBody>
      </p:sp>
      <p:sp>
        <p:nvSpPr>
          <p:cNvPr id="5" name="">
            <a:extLst xmlns:a="http://schemas.openxmlformats.org/drawingml/2006/main">
              <a:ext uri="{FF2B5EF4-FFF2-40B4-BE49-F238E27FC236}">
                <a16:creationId xmlns:a16="http://schemas.microsoft.com/office/drawing/2014/main" id="{9AC576C4-1C74-42DE-82A8-6BB30A51D598}"/>
              </a:ext>
            </a:extLst>
          </p:cNvPr>
          <p:cNvSpPr>
            <a:spLocks xmlns:a="http://schemas.openxmlformats.org/drawingml/2006/main" noGrp="1"/>
          </p:cNvSpPr>
          <p:nvPr/>
        </p:nvSpPr>
        <p:spPr>
          <a:xfrm xmlns:a="http://schemas.openxmlformats.org/drawingml/2006/main">
            <a:off x="704850" y="1952625"/>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67 unit and 30 HTTP checks passed. Mocked browser checks:</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20 customer, 16 business and 32 design checks passed.</a:t>
            </a:r>
          </a:p>
        </p:txBody>
      </p:sp>
      <p:sp>
        <p:nvSpPr>
          <p:cNvPr id="6" name="">
            <a:extLst xmlns:a="http://schemas.openxmlformats.org/drawingml/2006/main">
              <a:ext uri="{FF2B5EF4-FFF2-40B4-BE49-F238E27FC236}">
                <a16:creationId xmlns:a16="http://schemas.microsoft.com/office/drawing/2014/main" id="{63A77D25-C9E1-49C3-A6CB-C54132DC97DC}"/>
              </a:ext>
            </a:extLst>
          </p:cNvPr>
          <p:cNvSpPr>
            <a:spLocks xmlns:a="http://schemas.openxmlformats.org/drawingml/2006/main" noGrp="1"/>
          </p:cNvSpPr>
          <p:nvPr/>
        </p:nvSpPr>
        <p:spPr>
          <a:xfrm xmlns:a="http://schemas.openxmlformats.org/drawingml/2006/main">
            <a:off x="704850" y="272415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64756D"/>
                </a:solidFill>
                <a:latin typeface="Arial"/>
                <a:ea typeface="Arial"/>
                <a:cs typeface="Arial"/>
              </a:defRPr>
            </a:pPr>
            <a:r>
              <a:rPr sz="1575" b="0">
                <a:solidFill>
                  <a:srgbClr val="64756D"/>
                </a:solidFill>
                <a:latin typeface="Arial"/>
                <a:ea typeface="Arial"/>
                <a:cs typeface="Arial"/>
              </a:rPr>
              <a:t>HTTP tests mock AI. Automated checks do not prove speech or user value.</a:t>
            </a:r>
          </a:p>
        </p:txBody>
      </p:sp>
      <p:sp>
        <p:nvSpPr>
          <p:cNvPr id="7" name="">
            <a:extLst xmlns:a="http://schemas.openxmlformats.org/drawingml/2006/main">
              <a:ext uri="{FF2B5EF4-FFF2-40B4-BE49-F238E27FC236}">
                <a16:creationId xmlns:a16="http://schemas.microsoft.com/office/drawing/2014/main" id="{4C2F465D-119D-417A-81BB-6A2AC1CF93D5}"/>
              </a:ext>
            </a:extLst>
          </p:cNvPr>
          <p:cNvSpPr>
            <a:spLocks xmlns:a="http://schemas.openxmlformats.org/drawingml/2006/main" noGrp="1"/>
          </p:cNvSpPr>
          <p:nvPr/>
        </p:nvSpPr>
        <p:spPr>
          <a:xfrm xmlns:a="http://schemas.openxmlformats.org/drawingml/2006/main">
            <a:off x="704850" y="33242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Latest shop voice attempt: Partial</a:t>
            </a:r>
          </a:p>
        </p:txBody>
      </p:sp>
      <p:sp>
        <p:nvSpPr>
          <p:cNvPr id="8" name="">
            <a:extLst xmlns:a="http://schemas.openxmlformats.org/drawingml/2006/main">
              <a:ext uri="{FF2B5EF4-FFF2-40B4-BE49-F238E27FC236}">
                <a16:creationId xmlns:a16="http://schemas.microsoft.com/office/drawing/2014/main" id="{627B81C0-0197-46EC-A01B-A0C435A23973}"/>
              </a:ext>
            </a:extLst>
          </p:cNvPr>
          <p:cNvSpPr>
            <a:spLocks xmlns:a="http://schemas.openxmlformats.org/drawingml/2006/main" noGrp="1"/>
          </p:cNvSpPr>
          <p:nvPr/>
        </p:nvSpPr>
        <p:spPr>
          <a:xfrm xmlns:a="http://schemas.openxmlformats.org/drawingml/2006/main">
            <a:off x="704850" y="38004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The customer answered a live color-preference relay.</a:t>
            </a:r>
          </a:p>
          <a:p xmlns:a="http://schemas.openxmlformats.org/drawingml/2006/main">
            <a:pPr>
              <a:defRPr sz="2025" b="0">
                <a:solidFill>
                  <a:srgbClr val="1B5147"/>
                </a:solidFill>
                <a:latin typeface="Arial"/>
                <a:ea typeface="Arial"/>
                <a:cs typeface="Arial"/>
              </a:defRPr>
            </a:pPr>
            <a:r>
              <a:rPr sz="2025" b="0">
                <a:solidFill>
                  <a:srgbClr val="1B5147"/>
                </a:solidFill>
                <a:latin typeface="Arial"/>
                <a:ea typeface="Arial"/>
                <a:cs typeface="Arial"/>
              </a:rPr>
              <a:t>The Korean return worked; the plan ignored that choice.</a:t>
            </a:r>
          </a:p>
        </p:txBody>
      </p:sp>
      <p:sp>
        <p:nvSpPr>
          <p:cNvPr id="9" name="">
            <a:extLst xmlns:a="http://schemas.openxmlformats.org/drawingml/2006/main">
              <a:ext uri="{FF2B5EF4-FFF2-40B4-BE49-F238E27FC236}">
                <a16:creationId xmlns:a16="http://schemas.microsoft.com/office/drawing/2014/main" id="{AC75B980-DD55-47BF-907E-5A839E201DA7}"/>
              </a:ext>
            </a:extLst>
          </p:cNvPr>
          <p:cNvSpPr>
            <a:spLocks xmlns:a="http://schemas.openxmlformats.org/drawingml/2006/main" noGrp="1"/>
          </p:cNvSpPr>
          <p:nvPr/>
        </p:nvSpPr>
        <p:spPr>
          <a:xfrm xmlns:a="http://schemas.openxmlformats.org/drawingml/2006/main">
            <a:off x="704850" y="50101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986224"/>
                </a:solidFill>
                <a:latin typeface="Arial"/>
                <a:ea typeface="Arial"/>
                <a:cs typeface="Arial"/>
              </a:defRPr>
            </a:pPr>
            <a:r>
              <a:rPr sz="2325" b="1">
                <a:solidFill>
                  <a:srgbClr val="986224"/>
                </a:solidFill>
                <a:latin typeface="Arial"/>
                <a:ea typeface="Arial"/>
                <a:cs typeface="Arial"/>
              </a:rPr>
              <a:t>Preference repair tested in replay</a:t>
            </a:r>
          </a:p>
        </p:txBody>
      </p:sp>
      <p:sp>
        <p:nvSpPr>
          <p:cNvPr id="10" name="">
            <a:extLst xmlns:a="http://schemas.openxmlformats.org/drawingml/2006/main">
              <a:ext uri="{FF2B5EF4-FFF2-40B4-BE49-F238E27FC236}">
                <a16:creationId xmlns:a16="http://schemas.microsoft.com/office/drawing/2014/main" id="{BA952A9B-09F5-4282-9F54-E936B14A130A}"/>
              </a:ext>
            </a:extLst>
          </p:cNvPr>
          <p:cNvSpPr>
            <a:spLocks xmlns:a="http://schemas.openxmlformats.org/drawingml/2006/main" noGrp="1"/>
          </p:cNvSpPr>
          <p:nvPr/>
        </p:nvSpPr>
        <p:spPr>
          <a:xfrm xmlns:a="http://schemas.openxmlformats.org/drawingml/2006/main">
            <a:off x="704850" y="5486400"/>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The replay now retains answers and uses accepted alternatives.</a:t>
            </a:r>
          </a:p>
          <a:p xmlns:a="http://schemas.openxmlformats.org/drawingml/2006/main">
            <a:pPr>
              <a:defRPr sz="1950" b="0">
                <a:solidFill>
                  <a:srgbClr val="986224"/>
                </a:solidFill>
                <a:latin typeface="Arial"/>
                <a:ea typeface="Arial"/>
                <a:cs typeface="Arial"/>
              </a:defRPr>
            </a:pPr>
            <a:r>
              <a:rPr sz="1950" b="0">
                <a:solidFill>
                  <a:srgbClr val="986224"/>
                </a:solidFill>
                <a:latin typeface="Arial"/>
                <a:ea typeface="Arial"/>
                <a:cs typeface="Arial"/>
              </a:rPr>
              <a:t>A valid end-to-end microphone completion remains unverified.</a:t>
            </a:r>
          </a:p>
        </p:txBody>
      </p:sp>
    </p:spTree>
    <p:extLst>
      <p:ext uri="{BB962C8B-B14F-4D97-AF65-F5344CB8AC3E}">
        <p14:creationId xmlns:p14="http://schemas.microsoft.com/office/powerpoint/2010/main" val="358662165"/>
      </p:ext>
    </p:extLst>
  </p:cSld>
</p:sld>
</file>

<file path=ppt/slides/slide5.xml><?xml version="1.0" encoding="utf-8"?>
<p:sld xmlns:p="http://schemas.openxmlformats.org/presentationml/2006/main">
  <p:cSld>
    <p:bg>
      <p:bgPr>
        <a:solidFill xmlns:a="http://schemas.openxmlformats.org/drawingml/2006/main">
          <a:srgbClr val="F6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6CD8B6-F20A-4428-94EC-DE3A9B0037F6}"/>
              </a:ext>
            </a:extLst>
          </p:cNvPr>
          <p:cNvSpPr>
            <a:spLocks xmlns:a="http://schemas.openxmlformats.org/drawingml/2006/main" noGrp="1"/>
          </p:cNvSpPr>
          <p:nvPr/>
        </p:nvSpPr>
        <p:spPr>
          <a:xfrm xmlns:a="http://schemas.openxmlformats.org/drawingml/2006/main">
            <a:off x="685800" y="5715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900" b="1">
                <a:solidFill>
                  <a:srgbClr val="1B5147"/>
                </a:solidFill>
                <a:latin typeface="Arial"/>
                <a:ea typeface="Arial"/>
                <a:cs typeface="Arial"/>
              </a:defRPr>
            </a:pPr>
            <a:r>
              <a:rPr sz="3900" b="1">
                <a:solidFill>
                  <a:srgbClr val="1B5147"/>
                </a:solidFill>
                <a:latin typeface="Arial"/>
                <a:ea typeface="Arial"/>
                <a:cs typeface="Arial"/>
              </a:rPr>
              <a:t>Value hypothesis and scope</a:t>
            </a:r>
          </a:p>
        </p:txBody>
      </p:sp>
      <p:sp>
        <p:nvSpPr>
          <p:cNvPr id="2" name="">
            <a:extLst xmlns:a="http://schemas.openxmlformats.org/drawingml/2006/main">
              <a:ext uri="{FF2B5EF4-FFF2-40B4-BE49-F238E27FC236}">
                <a16:creationId xmlns:a16="http://schemas.microsoft.com/office/drawing/2014/main" id="{D8153A9A-A245-4289-8843-9236D1AF5D29}"/>
              </a:ext>
            </a:extLst>
          </p:cNvPr>
          <p:cNvSpPr>
            <a:spLocks xmlns:a="http://schemas.openxmlformats.org/drawingml/2006/main" noGrp="1"/>
          </p:cNvSpPr>
          <p:nvPr/>
        </p:nvSpPr>
        <p:spPr>
          <a:xfrm xmlns:a="http://schemas.openxmlformats.org/drawingml/2006/main">
            <a:off x="685800" y="6343650"/>
            <a:ext cx="981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YOKOBU v2 · Fictional institutions · Simulated calls only</a:t>
            </a:r>
          </a:p>
        </p:txBody>
      </p:sp>
      <p:sp>
        <p:nvSpPr>
          <p:cNvPr id="3" name="">
            <a:extLst xmlns:a="http://schemas.openxmlformats.org/drawingml/2006/main">
              <a:ext uri="{FF2B5EF4-FFF2-40B4-BE49-F238E27FC236}">
                <a16:creationId xmlns:a16="http://schemas.microsoft.com/office/drawing/2014/main" id="{A29E11D0-DC36-4B7D-8727-CD71DB6F45E4}"/>
              </a:ext>
            </a:extLst>
          </p:cNvPr>
          <p:cNvSpPr>
            <a:spLocks xmlns:a="http://schemas.openxmlformats.org/drawingml/2006/main" noGrp="1"/>
          </p:cNvSpPr>
          <p:nvPr/>
        </p:nvSpPr>
        <p:spPr>
          <a:xfrm xmlns:a="http://schemas.openxmlformats.org/drawingml/2006/main">
            <a:off x="10810875" y="6343650"/>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64756D"/>
                </a:solidFill>
                <a:latin typeface="Arial"/>
                <a:ea typeface="Arial"/>
                <a:cs typeface="Arial"/>
              </a:defRPr>
            </a:pPr>
            <a:r>
              <a:rPr sz="1425" b="0">
                <a:solidFill>
                  <a:srgbClr val="64756D"/>
                </a:solidFill>
                <a:latin typeface="Arial"/>
                <a:ea typeface="Arial"/>
                <a:cs typeface="Arial"/>
              </a:rPr>
              <a:t>5 / 5</a:t>
            </a:r>
          </a:p>
        </p:txBody>
      </p:sp>
      <p:sp>
        <p:nvSpPr>
          <p:cNvPr id="4" name="">
            <a:extLst xmlns:a="http://schemas.openxmlformats.org/drawingml/2006/main">
              <a:ext uri="{FF2B5EF4-FFF2-40B4-BE49-F238E27FC236}">
                <a16:creationId xmlns:a16="http://schemas.microsoft.com/office/drawing/2014/main" id="{5AB6575A-7C73-4C80-A82D-D5B1075D7330}"/>
              </a:ext>
            </a:extLst>
          </p:cNvPr>
          <p:cNvSpPr>
            <a:spLocks xmlns:a="http://schemas.openxmlformats.org/drawingml/2006/main" noGrp="1"/>
          </p:cNvSpPr>
          <p:nvPr/>
        </p:nvSpPr>
        <p:spPr>
          <a:xfrm xmlns:a="http://schemas.openxmlformats.org/drawingml/2006/main">
            <a:off x="704850" y="1704975"/>
            <a:ext cx="108108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Can a text conversation reduce the barrier</a:t>
            </a:r>
          </a:p>
          <a:p xmlns:a="http://schemas.openxmlformats.org/drawingml/2006/main">
            <a:pPr>
              <a:defRPr sz="3150" b="1">
                <a:solidFill>
                  <a:srgbClr val="1B5147"/>
                </a:solidFill>
                <a:latin typeface="Arial"/>
                <a:ea typeface="Arial"/>
                <a:cs typeface="Arial"/>
              </a:defRPr>
            </a:pPr>
            <a:r>
              <a:rPr sz="3150" b="1">
                <a:solidFill>
                  <a:srgbClr val="1B5147"/>
                </a:solidFill>
                <a:latin typeface="Arial"/>
                <a:ea typeface="Arial"/>
                <a:cs typeface="Arial"/>
              </a:rPr>
              <a:t>to getting help from a Korean business?</a:t>
            </a:r>
          </a:p>
        </p:txBody>
      </p:sp>
      <p:sp>
        <p:nvSpPr>
          <p:cNvPr id="5" name="">
            <a:extLst xmlns:a="http://schemas.openxmlformats.org/drawingml/2006/main">
              <a:ext uri="{FF2B5EF4-FFF2-40B4-BE49-F238E27FC236}">
                <a16:creationId xmlns:a16="http://schemas.microsoft.com/office/drawing/2014/main" id="{FC387325-9DA0-46B8-BAAB-B0C83F2B65ED}"/>
              </a:ext>
            </a:extLst>
          </p:cNvPr>
          <p:cNvSpPr>
            <a:spLocks xmlns:a="http://schemas.openxmlformats.org/drawingml/2006/main" noGrp="1"/>
          </p:cNvSpPr>
          <p:nvPr/>
        </p:nvSpPr>
        <p:spPr>
          <a:xfrm xmlns:a="http://schemas.openxmlformats.org/drawingml/2006/main">
            <a:off x="704850" y="34004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225" b="1">
                <a:solidFill>
                  <a:srgbClr val="986224"/>
                </a:solidFill>
                <a:latin typeface="Arial"/>
                <a:ea typeface="Arial"/>
                <a:cs typeface="Arial"/>
              </a:defRPr>
            </a:pPr>
            <a:r>
              <a:rPr sz="3225" b="1">
                <a:solidFill>
                  <a:srgbClr val="986224"/>
                </a:solidFill>
                <a:latin typeface="Arial"/>
                <a:ea typeface="Arial"/>
                <a:cs typeface="Arial"/>
              </a:rPr>
              <a:t>User value: Unverified</a:t>
            </a:r>
          </a:p>
        </p:txBody>
      </p:sp>
      <p:sp>
        <p:nvSpPr>
          <p:cNvPr id="6" name="">
            <a:extLst xmlns:a="http://schemas.openxmlformats.org/drawingml/2006/main">
              <a:ext uri="{FF2B5EF4-FFF2-40B4-BE49-F238E27FC236}">
                <a16:creationId xmlns:a16="http://schemas.microsoft.com/office/drawing/2014/main" id="{C43145FC-3FF0-4583-B4DF-91AFCC99B84F}"/>
              </a:ext>
            </a:extLst>
          </p:cNvPr>
          <p:cNvSpPr>
            <a:spLocks xmlns:a="http://schemas.openxmlformats.org/drawingml/2006/main" noGrp="1"/>
          </p:cNvSpPr>
          <p:nvPr/>
        </p:nvSpPr>
        <p:spPr>
          <a:xfrm xmlns:a="http://schemas.openxmlformats.org/drawingml/2006/main">
            <a:off x="704850" y="40767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B5147"/>
                </a:solidFill>
                <a:latin typeface="Arial"/>
                <a:ea typeface="Arial"/>
                <a:cs typeface="Arial"/>
              </a:defRPr>
            </a:pPr>
            <a:r>
              <a:rPr sz="2100" b="0">
                <a:solidFill>
                  <a:srgbClr val="1B5147"/>
                </a:solidFill>
                <a:latin typeface="Arial"/>
                <a:ea typeface="Arial"/>
                <a:cs typeface="Arial"/>
              </a:rPr>
              <a:t>No feedback from actual target users has been collected.</a:t>
            </a:r>
          </a:p>
        </p:txBody>
      </p:sp>
      <p:sp>
        <p:nvSpPr>
          <p:cNvPr id="7" name="">
            <a:extLst xmlns:a="http://schemas.openxmlformats.org/drawingml/2006/main">
              <a:ext uri="{FF2B5EF4-FFF2-40B4-BE49-F238E27FC236}">
                <a16:creationId xmlns:a16="http://schemas.microsoft.com/office/drawing/2014/main" id="{441DDA9F-3887-49D3-A1E9-BCC28D49D8A5}"/>
              </a:ext>
            </a:extLst>
          </p:cNvPr>
          <p:cNvSpPr>
            <a:spLocks xmlns:a="http://schemas.openxmlformats.org/drawingml/2006/main" noGrp="1"/>
          </p:cNvSpPr>
          <p:nvPr/>
        </p:nvSpPr>
        <p:spPr>
          <a:xfrm xmlns:a="http://schemas.openxmlformats.org/drawingml/2006/main">
            <a:off x="704850" y="49530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325" b="1">
                <a:solidFill>
                  <a:srgbClr val="1B5147"/>
                </a:solidFill>
                <a:latin typeface="Arial"/>
                <a:ea typeface="Arial"/>
                <a:cs typeface="Arial"/>
              </a:defRPr>
            </a:pPr>
            <a:r>
              <a:rPr sz="2325" b="1">
                <a:solidFill>
                  <a:srgbClr val="1B5147"/>
                </a:solidFill>
                <a:latin typeface="Arial"/>
                <a:ea typeface="Arial"/>
                <a:cs typeface="Arial"/>
              </a:rPr>
              <a:t>Today’s scope</a:t>
            </a:r>
          </a:p>
        </p:txBody>
      </p:sp>
      <p:sp>
        <p:nvSpPr>
          <p:cNvPr id="8" name="">
            <a:extLst xmlns:a="http://schemas.openxmlformats.org/drawingml/2006/main">
              <a:ext uri="{FF2B5EF4-FFF2-40B4-BE49-F238E27FC236}">
                <a16:creationId xmlns:a16="http://schemas.microsoft.com/office/drawing/2014/main" id="{AF3A740A-08E9-4E21-9914-AAA7C7E00D94}"/>
              </a:ext>
            </a:extLst>
          </p:cNvPr>
          <p:cNvSpPr>
            <a:spLocks xmlns:a="http://schemas.openxmlformats.org/drawingml/2006/main" noGrp="1"/>
          </p:cNvSpPr>
          <p:nvPr/>
        </p:nvSpPr>
        <p:spPr>
          <a:xfrm xmlns:a="http://schemas.openxmlformats.org/drawingml/2006/main">
            <a:off x="704850" y="54292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Fictional institutions. Simulated calls in two laptop tabs.</a:t>
            </a:r>
          </a:p>
          <a:p xmlns:a="http://schemas.openxmlformats.org/drawingml/2006/main">
            <a:pPr>
              <a:defRPr sz="2025" b="0">
                <a:solidFill>
                  <a:srgbClr val="64756D"/>
                </a:solidFill>
                <a:latin typeface="Arial"/>
                <a:ea typeface="Arial"/>
                <a:cs typeface="Arial"/>
              </a:defRPr>
            </a:pPr>
            <a:r>
              <a:rPr sz="2025" b="0">
                <a:solidFill>
                  <a:srgbClr val="64756D"/>
                </a:solidFill>
                <a:latin typeface="Arial"/>
                <a:ea typeface="Arial"/>
                <a:cs typeface="Arial"/>
              </a:rPr>
              <a:t>No real calls, real discovery, or reception/doctor sheets.</a:t>
            </a:r>
          </a:p>
        </p:txBody>
      </p:sp>
    </p:spTree>
    <p:extLst>
      <p:ext uri="{BB962C8B-B14F-4D97-AF65-F5344CB8AC3E}">
        <p14:creationId xmlns:p14="http://schemas.microsoft.com/office/powerpoint/2010/main" val="14528235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2026-09-29T07:03:31.9700000Z</dcterms:created>
  <dcterms:modified xsi:type="dcterms:W3CDTF">2026-09-29T07:03:31.9700000Z</dcterms:modified>
</coreProperties>
</file>