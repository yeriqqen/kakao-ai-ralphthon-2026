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e2a63c38ca42e5" /><Relationship Type="http://schemas.openxmlformats.org/officeDocument/2006/relationships/extended-properties" Target="/docProps/app.xml" Id="R22ccaa8e48cd4b5f" /><Relationship Type="http://schemas.openxmlformats.org/officeDocument/2006/relationships/officeDocument" Target="/ppt/presentation.xml" Id="R6e2350ba0eb04a44" /></Relationships>
</file>

<file path=ppt/presentation.xml><?xml version="1.0" encoding="utf-8"?>
<p:presentation xmlns:p="http://schemas.openxmlformats.org/presentationml/2006/main">
  <p:sldMasterIdLst>
    <p:sldMasterId xmlns:r="http://schemas.openxmlformats.org/officeDocument/2006/relationships" id="2147483648" r:id="R549124e2bcf9477f"/>
  </p:sldMasterIdLst>
  <p:notesMasterIdLst>
    <p:notesMasterId xmlns:r="http://schemas.openxmlformats.org/officeDocument/2006/relationships" r:id="R83d1ad96d6dc40d8"/>
  </p:notesMasterIdLst>
  <p:sldIdLst>
    <p:sldId xmlns:r="http://schemas.openxmlformats.org/officeDocument/2006/relationships" id="256" r:id="R745151d48cbc403e"/>
    <p:sldId xmlns:r="http://schemas.openxmlformats.org/officeDocument/2006/relationships" id="257" r:id="R24d7977ee0fe445d"/>
    <p:sldId xmlns:r="http://schemas.openxmlformats.org/officeDocument/2006/relationships" id="258" r:id="Ra599c2b8156547b8"/>
    <p:sldId xmlns:r="http://schemas.openxmlformats.org/officeDocument/2006/relationships" id="259" r:id="R221a1c9b890a4f71"/>
    <p:sldId xmlns:r="http://schemas.openxmlformats.org/officeDocument/2006/relationships" id="260" r:id="Rab4c351c17b24c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c4b7fc7bc74e97" /><Relationship Type="http://schemas.openxmlformats.org/officeDocument/2006/relationships/slideMaster" Target="/ppt/slideMasters/slideMaster1.xml" Id="R549124e2bcf9477f" /><Relationship Type="http://schemas.openxmlformats.org/officeDocument/2006/relationships/notesMaster" Target="/ppt/notesMasters/notesMaster1.xml" Id="R83d1ad96d6dc40d8" /><Relationship Type="http://schemas.openxmlformats.org/officeDocument/2006/relationships/presProps" Target="/ppt/presProps.xml" Id="Re3c1aeed8a5049b6" /><Relationship Type="http://schemas.openxmlformats.org/officeDocument/2006/relationships/tableStyles" Target="/ppt/tableStyles.xml" Id="R7bcf8c5c165744a4" /><Relationship Type="http://schemas.openxmlformats.org/officeDocument/2006/relationships/slide" Target="/ppt/slides/slide1.xml" Id="R745151d48cbc403e" /><Relationship Type="http://schemas.openxmlformats.org/officeDocument/2006/relationships/slide" Target="/ppt/slides/slide2.xml" Id="R24d7977ee0fe445d" /><Relationship Type="http://schemas.openxmlformats.org/officeDocument/2006/relationships/slide" Target="/ppt/slides/slide3.xml" Id="Ra599c2b8156547b8" /><Relationship Type="http://schemas.openxmlformats.org/officeDocument/2006/relationships/slide" Target="/ppt/slides/slide4.xml" Id="R221a1c9b890a4f71" /><Relationship Type="http://schemas.openxmlformats.org/officeDocument/2006/relationships/slide" Target="/ppt/slides/slide5.xml" Id="Rab4c351c17b24c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60c118c1d644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ed5bad121d4751" /><Relationship Type="http://schemas.openxmlformats.org/officeDocument/2006/relationships/notesMaster" Target="/ppt/notesMasters/notesMaster1.xml" Id="R9197faf836c248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e5e95959584496" /><Relationship Type="http://schemas.openxmlformats.org/officeDocument/2006/relationships/notesMaster" Target="/ppt/notesMasters/notesMaster1.xml" Id="R0f831584a01446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bb0faf45d54ff7" /><Relationship Type="http://schemas.openxmlformats.org/officeDocument/2006/relationships/notesMaster" Target="/ppt/notesMasters/notesMaster1.xml" Id="Rc0dfe3176bcd49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e2811f1e9a429b" /><Relationship Type="http://schemas.openxmlformats.org/officeDocument/2006/relationships/notesMaster" Target="/ppt/notesMasters/notesMaster1.xml" Id="R595a74dd40314f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a4de3120f94b82" /><Relationship Type="http://schemas.openxmlformats.org/officeDocument/2006/relationships/notesMaster" Target="/ppt/notesMasters/notesMaster1.xml" Id="R61d706c4a7724b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0:00–0:25. Explain the intended users and problem. This is a product hypothesis, not a claim of validated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0:25–0:55. Show the clean chat interface and language selection. The interview, institutions and required questions come from the model. These are intended runtime steps; the current verification status is on slide four.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0:55–2:00. Open a separate business tab on the same laptop. It must remain inactive before customer authorization. Accept only when incoming. Use fictional customer details and business answers. Choose an unknown customer detail based on the actual interview, rather than assuming prior-visit status is unknown. If API credit is still blocked, show the explicit blocker and do not present synthetic fixtures as a live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2:00–2:30. Evidence source: artifacts/v2/customer-ui-check.json and the integration checkpoint recorded in verification.md. Browser checks use mocked API routes, not real models or speech. State completion rules are an implementation boundary, not proof of a live successful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2:30–3:00. Show the resulting summary and recommendation only if a real conversation has produced them. Explain unresolved information and testing limits. Describe the representative Codex contribution: dynamic state and authorization checks, language coverage, and explicit synthetic-vs-live evidence. Do not claim target-user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785aaea3e840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1305c4fb84497f" /><Relationship Type="http://schemas.openxmlformats.org/officeDocument/2006/relationships/slideLayout" Target="/ppt/slideLayouts/slideLayout1.xml" Id="Rc2fb9698878840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fb9698878840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bd58341ec794a79" /><Relationship Type="http://schemas.openxmlformats.org/officeDocument/2006/relationships/notesSlide" Target="/ppt/notesSlides/notesSlide1.xml" Id="R09394145065048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7167f05453453d" /><Relationship Type="http://schemas.openxmlformats.org/officeDocument/2006/relationships/notesSlide" Target="/ppt/notesSlides/notesSlide2.xml" Id="R17f291faeaa14f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3bc316a09e466b" /><Relationship Type="http://schemas.openxmlformats.org/officeDocument/2006/relationships/notesSlide" Target="/ppt/notesSlides/notesSlide3.xml" Id="Rce95299ef63a48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cc615ff3fcd4994" /><Relationship Type="http://schemas.openxmlformats.org/officeDocument/2006/relationships/notesSlide" Target="/ppt/notesSlides/notesSlide4.xml" Id="R84ed0781c95749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017aef09b14846" /><Relationship Type="http://schemas.openxmlformats.org/officeDocument/2006/relationships/notesSlide" Target="/ppt/notesSlides/notesSlide5.xml" Id="R9dd812be65ba4b66" /></Relationships>
</file>

<file path=ppt/slides/slide1.xml><?xml version="1.0" encoding="utf-8"?>
<p:sld xmlns:p="http://schemas.openxmlformats.org/presentationml/2006/main">
  <p:cSld>
    <p:bg>
      <p:bgPr>
        <a:solidFill xmlns:a="http://schemas.openxmlformats.org/drawingml/2006/main">
          <a:srgbClr val="1B514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4A1FC5-03AD-4A20-8B47-C161F596F850}"/>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YOKOBU v2 · Fictional institutions · Simulated calls only</a:t>
            </a:r>
          </a:p>
        </p:txBody>
      </p:sp>
      <p:sp>
        <p:nvSpPr>
          <p:cNvPr id="2" name="">
            <a:extLst xmlns:a="http://schemas.openxmlformats.org/drawingml/2006/main">
              <a:ext uri="{FF2B5EF4-FFF2-40B4-BE49-F238E27FC236}">
                <a16:creationId xmlns:a16="http://schemas.microsoft.com/office/drawing/2014/main" id="{1522E35E-2906-4445-BCD5-1592AB4136FB}"/>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1 / 5</a:t>
            </a:r>
          </a:p>
        </p:txBody>
      </p:sp>
      <p:sp>
        <p:nvSpPr>
          <p:cNvPr id="3" name="">
            <a:extLst xmlns:a="http://schemas.openxmlformats.org/drawingml/2006/main">
              <a:ext uri="{FF2B5EF4-FFF2-40B4-BE49-F238E27FC236}">
                <a16:creationId xmlns:a16="http://schemas.microsoft.com/office/drawing/2014/main" id="{B0377C15-5E5A-4BC2-A727-527F9538B442}"/>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300" b="1">
                <a:solidFill>
                  <a:srgbClr val="E4F4A2"/>
                </a:solidFill>
                <a:latin typeface="Arial"/>
                <a:ea typeface="Arial"/>
                <a:cs typeface="Arial"/>
              </a:defRPr>
            </a:pPr>
            <a:r>
              <a:rPr sz="6300" b="1">
                <a:solidFill>
                  <a:srgbClr val="E4F4A2"/>
                </a:solidFill>
                <a:latin typeface="Arial"/>
                <a:ea typeface="Arial"/>
                <a:cs typeface="Arial"/>
              </a:rPr>
              <a:t>YOKOBU</a:t>
            </a:r>
          </a:p>
        </p:txBody>
      </p:sp>
      <p:sp>
        <p:nvSpPr>
          <p:cNvPr id="4" name="">
            <a:extLst xmlns:a="http://schemas.openxmlformats.org/drawingml/2006/main">
              <a:ext uri="{FF2B5EF4-FFF2-40B4-BE49-F238E27FC236}">
                <a16:creationId xmlns:a16="http://schemas.microsoft.com/office/drawing/2014/main" id="{C18226A6-FE0B-4AF0-98E9-E83C1D874EA3}"/>
              </a:ext>
            </a:extLst>
          </p:cNvPr>
          <p:cNvSpPr>
            <a:spLocks xmlns:a="http://schemas.openxmlformats.org/drawingml/2006/main" noGrp="1"/>
          </p:cNvSpPr>
          <p:nvPr/>
        </p:nvSpPr>
        <p:spPr>
          <a:xfrm xmlns:a="http://schemas.openxmlformats.org/drawingml/2006/main">
            <a:off x="685800" y="1990725"/>
            <a:ext cx="108204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 text interface for</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Korean business conversations</a:t>
            </a:r>
          </a:p>
        </p:txBody>
      </p:sp>
      <p:sp>
        <p:nvSpPr>
          <p:cNvPr id="5" name="">
            <a:extLst xmlns:a="http://schemas.openxmlformats.org/drawingml/2006/main">
              <a:ext uri="{FF2B5EF4-FFF2-40B4-BE49-F238E27FC236}">
                <a16:creationId xmlns:a16="http://schemas.microsoft.com/office/drawing/2014/main" id="{F8A6AD0E-6229-4598-B3B8-10F9493BDAD6}"/>
              </a:ext>
            </a:extLst>
          </p:cNvPr>
          <p:cNvSpPr>
            <a:spLocks xmlns:a="http://schemas.openxmlformats.org/drawingml/2006/main" noGrp="1"/>
          </p:cNvSpPr>
          <p:nvPr/>
        </p:nvSpPr>
        <p:spPr>
          <a:xfrm xmlns:a="http://schemas.openxmlformats.org/drawingml/2006/main">
            <a:off x="723900" y="39433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For expats, tourists, and deaf or hard-of-hearing</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users in Korea who need information or help.</a:t>
            </a:r>
          </a:p>
        </p:txBody>
      </p:sp>
      <p:sp>
        <p:nvSpPr>
          <p:cNvPr id="6" name="">
            <a:extLst xmlns:a="http://schemas.openxmlformats.org/drawingml/2006/main">
              <a:ext uri="{FF2B5EF4-FFF2-40B4-BE49-F238E27FC236}">
                <a16:creationId xmlns:a16="http://schemas.microsoft.com/office/drawing/2014/main" id="{F770A8C9-BDA9-41E5-8846-8719E55C9A42}"/>
              </a:ext>
            </a:extLst>
          </p:cNvPr>
          <p:cNvSpPr>
            <a:spLocks xmlns:a="http://schemas.openxmlformats.org/drawingml/2006/main" noGrp="1"/>
          </p:cNvSpPr>
          <p:nvPr/>
        </p:nvSpPr>
        <p:spPr>
          <a:xfrm xmlns:a="http://schemas.openxmlformats.org/drawingml/2006/main">
            <a:off x="723900" y="5219700"/>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Language and accessibility barriers can prevent people</a:t>
            </a:r>
          </a:p>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from getting the information they need by phone.</a:t>
            </a:r>
          </a:p>
        </p:txBody>
      </p:sp>
    </p:spTree>
    <p:extLst>
      <p:ext uri="{BB962C8B-B14F-4D97-AF65-F5344CB8AC3E}">
        <p14:creationId xmlns:p14="http://schemas.microsoft.com/office/powerpoint/2010/main" val="986330405"/>
      </p:ext>
    </p:extLst>
  </p:cSld>
</p:sld>
</file>

<file path=ppt/slides/slide2.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58C337D-9AF3-4E31-9DEC-666336AA9934}"/>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customer experience</a:t>
            </a:r>
          </a:p>
        </p:txBody>
      </p:sp>
      <p:sp>
        <p:nvSpPr>
          <p:cNvPr id="2" name="">
            <a:extLst xmlns:a="http://schemas.openxmlformats.org/drawingml/2006/main">
              <a:ext uri="{FF2B5EF4-FFF2-40B4-BE49-F238E27FC236}">
                <a16:creationId xmlns:a16="http://schemas.microsoft.com/office/drawing/2014/main" id="{55728CC8-F247-4A8D-831C-6403B44D8749}"/>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0FD9FD56-395B-419F-AAB7-ACB73DC0DBB8}"/>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2 / 5</a:t>
            </a:r>
          </a:p>
        </p:txBody>
      </p:sp>
      <p:sp>
        <p:nvSpPr>
          <p:cNvPr id="4" name="">
            <a:extLst xmlns:a="http://schemas.openxmlformats.org/drawingml/2006/main">
              <a:ext uri="{FF2B5EF4-FFF2-40B4-BE49-F238E27FC236}">
                <a16:creationId xmlns:a16="http://schemas.microsoft.com/office/drawing/2014/main" id="{02831D35-BC22-4561-A935-049D045E9BEA}"/>
              </a:ext>
            </a:extLst>
          </p:cNvPr>
          <p:cNvSpPr>
            <a:spLocks xmlns:a="http://schemas.openxmlformats.org/drawingml/2006/main" noGrp="1"/>
          </p:cNvSpPr>
          <p:nvPr/>
        </p:nvSpPr>
        <p:spPr>
          <a:xfrm xmlns:a="http://schemas.openxmlformats.org/drawingml/2006/main">
            <a:off x="704850" y="15906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365AA8A0-6755-490C-872C-1E776C0ED06D}"/>
              </a:ext>
            </a:extLst>
          </p:cNvPr>
          <p:cNvSpPr>
            <a:spLocks xmlns:a="http://schemas.openxmlformats.org/drawingml/2006/main" noGrp="1"/>
          </p:cNvSpPr>
          <p:nvPr/>
        </p:nvSpPr>
        <p:spPr>
          <a:xfrm xmlns:a="http://schemas.openxmlformats.org/drawingml/2006/main">
            <a:off x="1647825" y="15906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Describe a need</a:t>
            </a:r>
          </a:p>
        </p:txBody>
      </p:sp>
      <p:sp>
        <p:nvSpPr>
          <p:cNvPr id="6" name="">
            <a:extLst xmlns:a="http://schemas.openxmlformats.org/drawingml/2006/main">
              <a:ext uri="{FF2B5EF4-FFF2-40B4-BE49-F238E27FC236}">
                <a16:creationId xmlns:a16="http://schemas.microsoft.com/office/drawing/2014/main" id="{F3179FA4-B3E4-456F-9217-B278195EF05B}"/>
              </a:ext>
            </a:extLst>
          </p:cNvPr>
          <p:cNvSpPr>
            <a:spLocks xmlns:a="http://schemas.openxmlformats.org/drawingml/2006/main" noGrp="1"/>
          </p:cNvSpPr>
          <p:nvPr/>
        </p:nvSpPr>
        <p:spPr>
          <a:xfrm xmlns:a="http://schemas.openxmlformats.org/drawingml/2006/main">
            <a:off x="1666875" y="20097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English by default, with Russian and Chinese options.</a:t>
            </a:r>
          </a:p>
        </p:txBody>
      </p:sp>
      <p:sp>
        <p:nvSpPr>
          <p:cNvPr id="7" name="">
            <a:extLst xmlns:a="http://schemas.openxmlformats.org/drawingml/2006/main">
              <a:ext uri="{FF2B5EF4-FFF2-40B4-BE49-F238E27FC236}">
                <a16:creationId xmlns:a16="http://schemas.microsoft.com/office/drawing/2014/main" id="{3B4512D2-F013-4ED9-BD24-B1945F461943}"/>
              </a:ext>
            </a:extLst>
          </p:cNvPr>
          <p:cNvSpPr>
            <a:spLocks xmlns:a="http://schemas.openxmlformats.org/drawingml/2006/main" noGrp="1"/>
          </p:cNvSpPr>
          <p:nvPr/>
        </p:nvSpPr>
        <p:spPr>
          <a:xfrm xmlns:a="http://schemas.openxmlformats.org/drawingml/2006/main">
            <a:off x="704850" y="247650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C5A7751-EF5D-4AF3-B379-941EAB142545}"/>
              </a:ext>
            </a:extLst>
          </p:cNvPr>
          <p:cNvSpPr>
            <a:spLocks xmlns:a="http://schemas.openxmlformats.org/drawingml/2006/main" noGrp="1"/>
          </p:cNvSpPr>
          <p:nvPr/>
        </p:nvSpPr>
        <p:spPr>
          <a:xfrm xmlns:a="http://schemas.openxmlformats.org/drawingml/2006/main">
            <a:off x="1647825" y="247650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Clarify through chat</a:t>
            </a:r>
          </a:p>
        </p:txBody>
      </p:sp>
      <p:sp>
        <p:nvSpPr>
          <p:cNvPr id="9" name="">
            <a:extLst xmlns:a="http://schemas.openxmlformats.org/drawingml/2006/main">
              <a:ext uri="{FF2B5EF4-FFF2-40B4-BE49-F238E27FC236}">
                <a16:creationId xmlns:a16="http://schemas.microsoft.com/office/drawing/2014/main" id="{A7FC0EF5-AB63-4C0A-B722-8C154EF3EBBC}"/>
              </a:ext>
            </a:extLst>
          </p:cNvPr>
          <p:cNvSpPr>
            <a:spLocks xmlns:a="http://schemas.openxmlformats.org/drawingml/2006/main" noGrp="1"/>
          </p:cNvSpPr>
          <p:nvPr/>
        </p:nvSpPr>
        <p:spPr>
          <a:xfrm xmlns:a="http://schemas.openxmlformats.org/drawingml/2006/main">
            <a:off x="1666875" y="289560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OpenAI generates the interview and a concrete call plan.</a:t>
            </a:r>
          </a:p>
        </p:txBody>
      </p:sp>
      <p:sp>
        <p:nvSpPr>
          <p:cNvPr id="10" name="">
            <a:extLst xmlns:a="http://schemas.openxmlformats.org/drawingml/2006/main">
              <a:ext uri="{FF2B5EF4-FFF2-40B4-BE49-F238E27FC236}">
                <a16:creationId xmlns:a16="http://schemas.microsoft.com/office/drawing/2014/main" id="{52A00A86-A246-4464-B444-07E569C78941}"/>
              </a:ext>
            </a:extLst>
          </p:cNvPr>
          <p:cNvSpPr>
            <a:spLocks xmlns:a="http://schemas.openxmlformats.org/drawingml/2006/main" noGrp="1"/>
          </p:cNvSpPr>
          <p:nvPr/>
        </p:nvSpPr>
        <p:spPr>
          <a:xfrm xmlns:a="http://schemas.openxmlformats.org/drawingml/2006/main">
            <a:off x="704850" y="336232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177D7B14-239C-4246-8223-D9240B878FCA}"/>
              </a:ext>
            </a:extLst>
          </p:cNvPr>
          <p:cNvSpPr>
            <a:spLocks xmlns:a="http://schemas.openxmlformats.org/drawingml/2006/main" noGrp="1"/>
          </p:cNvSpPr>
          <p:nvPr/>
        </p:nvSpPr>
        <p:spPr>
          <a:xfrm xmlns:a="http://schemas.openxmlformats.org/drawingml/2006/main">
            <a:off x="1647825" y="336232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Review and authorize</a:t>
            </a:r>
          </a:p>
        </p:txBody>
      </p:sp>
      <p:sp>
        <p:nvSpPr>
          <p:cNvPr id="12" name="">
            <a:extLst xmlns:a="http://schemas.openxmlformats.org/drawingml/2006/main">
              <a:ext uri="{FF2B5EF4-FFF2-40B4-BE49-F238E27FC236}">
                <a16:creationId xmlns:a16="http://schemas.microsoft.com/office/drawing/2014/main" id="{DE117ED8-29A3-4777-B1FF-E42EE447682A}"/>
              </a:ext>
            </a:extLst>
          </p:cNvPr>
          <p:cNvSpPr>
            <a:spLocks xmlns:a="http://schemas.openxmlformats.org/drawingml/2006/main" noGrp="1"/>
          </p:cNvSpPr>
          <p:nvPr/>
        </p:nvSpPr>
        <p:spPr>
          <a:xfrm xmlns:a="http://schemas.openxmlformats.org/drawingml/2006/main">
            <a:off x="1666875" y="378142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Choose a fictional institution, then explicitly say Yes.</a:t>
            </a:r>
          </a:p>
        </p:txBody>
      </p:sp>
      <p:sp>
        <p:nvSpPr>
          <p:cNvPr id="13" name="">
            <a:extLst xmlns:a="http://schemas.openxmlformats.org/drawingml/2006/main">
              <a:ext uri="{FF2B5EF4-FFF2-40B4-BE49-F238E27FC236}">
                <a16:creationId xmlns:a16="http://schemas.microsoft.com/office/drawing/2014/main" id="{DF770B7B-B1AF-473F-9262-01A83FAA69A2}"/>
              </a:ext>
            </a:extLst>
          </p:cNvPr>
          <p:cNvSpPr>
            <a:spLocks xmlns:a="http://schemas.openxmlformats.org/drawingml/2006/main" noGrp="1"/>
          </p:cNvSpPr>
          <p:nvPr/>
        </p:nvSpPr>
        <p:spPr>
          <a:xfrm xmlns:a="http://schemas.openxmlformats.org/drawingml/2006/main">
            <a:off x="704850" y="424815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83319037-502E-436A-AE7C-5DBD4295AA1E}"/>
              </a:ext>
            </a:extLst>
          </p:cNvPr>
          <p:cNvSpPr>
            <a:spLocks xmlns:a="http://schemas.openxmlformats.org/drawingml/2006/main" noGrp="1"/>
          </p:cNvSpPr>
          <p:nvPr/>
        </p:nvSpPr>
        <p:spPr>
          <a:xfrm xmlns:a="http://schemas.openxmlformats.org/drawingml/2006/main">
            <a:off x="1647825" y="424815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Resolve questions in Korean</a:t>
            </a:r>
          </a:p>
        </p:txBody>
      </p:sp>
      <p:sp>
        <p:nvSpPr>
          <p:cNvPr id="15" name="">
            <a:extLst xmlns:a="http://schemas.openxmlformats.org/drawingml/2006/main">
              <a:ext uri="{FF2B5EF4-FFF2-40B4-BE49-F238E27FC236}">
                <a16:creationId xmlns:a16="http://schemas.microsoft.com/office/drawing/2014/main" id="{29D9130B-3413-4E94-B6D2-76769CB7C88F}"/>
              </a:ext>
            </a:extLst>
          </p:cNvPr>
          <p:cNvSpPr>
            <a:spLocks xmlns:a="http://schemas.openxmlformats.org/drawingml/2006/main" noGrp="1"/>
          </p:cNvSpPr>
          <p:nvPr/>
        </p:nvSpPr>
        <p:spPr>
          <a:xfrm xmlns:a="http://schemas.openxmlformats.org/drawingml/2006/main">
            <a:off x="1666875" y="466725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Realtime voice speaks to the teammate. Unknown details return to chat.</a:t>
            </a:r>
          </a:p>
        </p:txBody>
      </p:sp>
      <p:sp>
        <p:nvSpPr>
          <p:cNvPr id="16" name="">
            <a:extLst xmlns:a="http://schemas.openxmlformats.org/drawingml/2006/main">
              <a:ext uri="{FF2B5EF4-FFF2-40B4-BE49-F238E27FC236}">
                <a16:creationId xmlns:a16="http://schemas.microsoft.com/office/drawing/2014/main" id="{B87C8DAA-036C-42B1-A76C-962B5A28F71D}"/>
              </a:ext>
            </a:extLst>
          </p:cNvPr>
          <p:cNvSpPr>
            <a:spLocks xmlns:a="http://schemas.openxmlformats.org/drawingml/2006/main" noGrp="1"/>
          </p:cNvSpPr>
          <p:nvPr/>
        </p:nvSpPr>
        <p:spPr>
          <a:xfrm xmlns:a="http://schemas.openxmlformats.org/drawingml/2006/main">
            <a:off x="704850" y="51339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437245E7-DF22-4786-B0D4-D2F0A0A93349}"/>
              </a:ext>
            </a:extLst>
          </p:cNvPr>
          <p:cNvSpPr>
            <a:spLocks xmlns:a="http://schemas.openxmlformats.org/drawingml/2006/main" noGrp="1"/>
          </p:cNvSpPr>
          <p:nvPr/>
        </p:nvSpPr>
        <p:spPr>
          <a:xfrm xmlns:a="http://schemas.openxmlformats.org/drawingml/2006/main">
            <a:off x="1647825" y="51339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Receive the result</a:t>
            </a:r>
          </a:p>
        </p:txBody>
      </p:sp>
      <p:sp>
        <p:nvSpPr>
          <p:cNvPr id="18" name="">
            <a:extLst xmlns:a="http://schemas.openxmlformats.org/drawingml/2006/main">
              <a:ext uri="{FF2B5EF4-FFF2-40B4-BE49-F238E27FC236}">
                <a16:creationId xmlns:a16="http://schemas.microsoft.com/office/drawing/2014/main" id="{A1C30373-5BB8-4E6E-9CE4-2778A450087D}"/>
              </a:ext>
            </a:extLst>
          </p:cNvPr>
          <p:cNvSpPr>
            <a:spLocks xmlns:a="http://schemas.openxmlformats.org/drawingml/2006/main" noGrp="1"/>
          </p:cNvSpPr>
          <p:nvPr/>
        </p:nvSpPr>
        <p:spPr>
          <a:xfrm xmlns:a="http://schemas.openxmlformats.org/drawingml/2006/main">
            <a:off x="1666875" y="55530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A conversation-grounded summary and a reasoned recommendation.</a:t>
            </a:r>
          </a:p>
        </p:txBody>
      </p:sp>
    </p:spTree>
    <p:extLst>
      <p:ext uri="{BB962C8B-B14F-4D97-AF65-F5344CB8AC3E}">
        <p14:creationId xmlns:p14="http://schemas.microsoft.com/office/powerpoint/2010/main" val="1314388329"/>
      </p:ext>
    </p:extLst>
  </p:cSld>
</p:sld>
</file>

<file path=ppt/slides/slide3.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B9F2245-CAA2-4F76-A1CC-150A5C83D5F7}"/>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laptop demonstration</a:t>
            </a:r>
          </a:p>
        </p:txBody>
      </p:sp>
      <p:sp>
        <p:nvSpPr>
          <p:cNvPr id="2" name="">
            <a:extLst xmlns:a="http://schemas.openxmlformats.org/drawingml/2006/main">
              <a:ext uri="{FF2B5EF4-FFF2-40B4-BE49-F238E27FC236}">
                <a16:creationId xmlns:a16="http://schemas.microsoft.com/office/drawing/2014/main" id="{C4C25EA7-9138-4C49-8669-F2C1EE2C60D3}"/>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DF8264B0-7A38-405B-BDF8-F8A33401F708}"/>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3 / 5</a:t>
            </a:r>
          </a:p>
        </p:txBody>
      </p:sp>
      <p:sp>
        <p:nvSpPr>
          <p:cNvPr id="4" name="">
            <a:extLst xmlns:a="http://schemas.openxmlformats.org/drawingml/2006/main">
              <a:ext uri="{FF2B5EF4-FFF2-40B4-BE49-F238E27FC236}">
                <a16:creationId xmlns:a16="http://schemas.microsoft.com/office/drawing/2014/main" id="{E6D372F5-CDAE-4B65-AF03-7B1EBA48A53D}"/>
              </a:ext>
            </a:extLst>
          </p:cNvPr>
          <p:cNvSpPr>
            <a:spLocks xmlns:a="http://schemas.openxmlformats.org/drawingml/2006/main" noGrp="1"/>
          </p:cNvSpPr>
          <p:nvPr/>
        </p:nvSpPr>
        <p:spPr>
          <a:xfrm xmlns:a="http://schemas.openxmlformats.org/drawingml/2006/main">
            <a:off x="704850" y="13620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986224"/>
                </a:solidFill>
                <a:latin typeface="Arial"/>
                <a:ea typeface="Arial"/>
                <a:cs typeface="Arial"/>
              </a:defRPr>
            </a:pPr>
            <a:r>
              <a:rPr sz="1875" b="1">
                <a:solidFill>
                  <a:srgbClr val="986224"/>
                </a:solidFill>
                <a:latin typeface="Arial"/>
                <a:ea typeface="Arial"/>
                <a:cs typeface="Arial"/>
              </a:rPr>
              <a:t>Planned acceptance run using real OpenAI services</a:t>
            </a:r>
          </a:p>
        </p:txBody>
      </p:sp>
      <p:sp>
        <p:nvSpPr>
          <p:cNvPr id="5" name="">
            <a:extLst xmlns:a="http://schemas.openxmlformats.org/drawingml/2006/main">
              <a:ext uri="{FF2B5EF4-FFF2-40B4-BE49-F238E27FC236}">
                <a16:creationId xmlns:a16="http://schemas.microsoft.com/office/drawing/2014/main" id="{5AC5DC41-49CE-45DF-8494-2FC6BC60847B}"/>
              </a:ext>
            </a:extLst>
          </p:cNvPr>
          <p:cNvSpPr>
            <a:spLocks xmlns:a="http://schemas.openxmlformats.org/drawingml/2006/main" noGrp="1"/>
          </p:cNvSpPr>
          <p:nvPr/>
        </p:nvSpPr>
        <p:spPr>
          <a:xfrm xmlns:a="http://schemas.openxmlformats.org/drawingml/2006/main">
            <a:off x="704850" y="21240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CUSTOMER TAB</a:t>
            </a:r>
          </a:p>
        </p:txBody>
      </p:sp>
      <p:sp>
        <p:nvSpPr>
          <p:cNvPr id="6" name="">
            <a:extLst xmlns:a="http://schemas.openxmlformats.org/drawingml/2006/main">
              <a:ext uri="{FF2B5EF4-FFF2-40B4-BE49-F238E27FC236}">
                <a16:creationId xmlns:a16="http://schemas.microsoft.com/office/drawing/2014/main" id="{7CE5AB18-CB75-4D06-81AE-B8704FC9C69B}"/>
              </a:ext>
            </a:extLst>
          </p:cNvPr>
          <p:cNvSpPr>
            <a:spLocks xmlns:a="http://schemas.openxmlformats.org/drawingml/2006/main" noGrp="1"/>
          </p:cNvSpPr>
          <p:nvPr/>
        </p:nvSpPr>
        <p:spPr>
          <a:xfrm xmlns:a="http://schemas.openxmlformats.org/drawingml/2006/main">
            <a:off x="704850" y="2638425"/>
            <a:ext cx="544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“I want to go to a hospital.”</a:t>
            </a:r>
          </a:p>
        </p:txBody>
      </p:sp>
      <p:sp>
        <p:nvSpPr>
          <p:cNvPr id="7" name="">
            <a:extLst xmlns:a="http://schemas.openxmlformats.org/drawingml/2006/main">
              <a:ext uri="{FF2B5EF4-FFF2-40B4-BE49-F238E27FC236}">
                <a16:creationId xmlns:a16="http://schemas.microsoft.com/office/drawing/2014/main" id="{99EE6AF3-7D04-4F3D-9707-2E33BCC6EF09}"/>
              </a:ext>
            </a:extLst>
          </p:cNvPr>
          <p:cNvSpPr>
            <a:spLocks xmlns:a="http://schemas.openxmlformats.org/drawingml/2006/main" noGrp="1"/>
          </p:cNvSpPr>
          <p:nvPr/>
        </p:nvSpPr>
        <p:spPr>
          <a:xfrm xmlns:a="http://schemas.openxmlformats.org/drawingml/2006/main">
            <a:off x="704850" y="3467100"/>
            <a:ext cx="53816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Answer the AI’s questions.</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Review the plan and authorize.</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Reply to unknown details in chat.</a:t>
            </a:r>
          </a:p>
        </p:txBody>
      </p:sp>
      <p:sp>
        <p:nvSpPr>
          <p:cNvPr id="8" name="">
            <a:extLst xmlns:a="http://schemas.openxmlformats.org/drawingml/2006/main">
              <a:ext uri="{FF2B5EF4-FFF2-40B4-BE49-F238E27FC236}">
                <a16:creationId xmlns:a16="http://schemas.microsoft.com/office/drawing/2014/main" id="{E55AC26F-076D-4BC1-A5E3-D9C399BB2489}"/>
              </a:ext>
            </a:extLst>
          </p:cNvPr>
          <p:cNvSpPr>
            <a:spLocks xmlns:a="http://schemas.openxmlformats.org/drawingml/2006/main" noGrp="1"/>
          </p:cNvSpPr>
          <p:nvPr/>
        </p:nvSpPr>
        <p:spPr>
          <a:xfrm xmlns:a="http://schemas.openxmlformats.org/drawingml/2006/main">
            <a:off x="6800850" y="2124075"/>
            <a:ext cx="4695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BUSINESS TAB</a:t>
            </a:r>
          </a:p>
        </p:txBody>
      </p:sp>
      <p:sp>
        <p:nvSpPr>
          <p:cNvPr id="9" name="">
            <a:extLst xmlns:a="http://schemas.openxmlformats.org/drawingml/2006/main">
              <a:ext uri="{FF2B5EF4-FFF2-40B4-BE49-F238E27FC236}">
                <a16:creationId xmlns:a16="http://schemas.microsoft.com/office/drawing/2014/main" id="{6456CB33-75E1-4EC8-A9BE-C047C40F5D9F}"/>
              </a:ext>
            </a:extLst>
          </p:cNvPr>
          <p:cNvSpPr>
            <a:spLocks xmlns:a="http://schemas.openxmlformats.org/drawingml/2006/main" noGrp="1"/>
          </p:cNvSpPr>
          <p:nvPr/>
        </p:nvSpPr>
        <p:spPr>
          <a:xfrm xmlns:a="http://schemas.openxmlformats.org/drawingml/2006/main">
            <a:off x="6800850" y="2638425"/>
            <a:ext cx="4686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Inactive until authorized</a:t>
            </a:r>
          </a:p>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and accepted</a:t>
            </a:r>
          </a:p>
        </p:txBody>
      </p:sp>
      <p:sp>
        <p:nvSpPr>
          <p:cNvPr id="10" name="">
            <a:extLst xmlns:a="http://schemas.openxmlformats.org/drawingml/2006/main">
              <a:ext uri="{FF2B5EF4-FFF2-40B4-BE49-F238E27FC236}">
                <a16:creationId xmlns:a16="http://schemas.microsoft.com/office/drawing/2014/main" id="{31CD1E9F-6441-461B-B761-4FBC418FA745}"/>
              </a:ext>
            </a:extLst>
          </p:cNvPr>
          <p:cNvSpPr>
            <a:spLocks xmlns:a="http://schemas.openxmlformats.org/drawingml/2006/main" noGrp="1"/>
          </p:cNvSpPr>
          <p:nvPr/>
        </p:nvSpPr>
        <p:spPr>
          <a:xfrm xmlns:a="http://schemas.openxmlformats.org/drawingml/2006/main">
            <a:off x="6800850" y="3686175"/>
            <a:ext cx="46863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The teammate accepts the call.</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Speak Korean through the laptop’s</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microphone and speaker.</a:t>
            </a:r>
          </a:p>
        </p:txBody>
      </p:sp>
      <p:sp>
        <p:nvSpPr>
          <p:cNvPr id="11" name="">
            <a:extLst xmlns:a="http://schemas.openxmlformats.org/drawingml/2006/main">
              <a:ext uri="{FF2B5EF4-FFF2-40B4-BE49-F238E27FC236}">
                <a16:creationId xmlns:a16="http://schemas.microsoft.com/office/drawing/2014/main" id="{36BB8954-DDCC-43EA-B6FF-0240833094BB}"/>
              </a:ext>
            </a:extLst>
          </p:cNvPr>
          <p:cNvSpPr>
            <a:spLocks xmlns:a="http://schemas.openxmlformats.org/drawingml/2006/main" noGrp="1"/>
          </p:cNvSpPr>
          <p:nvPr/>
        </p:nvSpPr>
        <p:spPr>
          <a:xfrm xmlns:a="http://schemas.openxmlformats.org/drawingml/2006/main">
            <a:off x="704850" y="5172075"/>
            <a:ext cx="10753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The teammate asks a detail the interview has not covered.</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The AI asks the customer, waits, and relays the answer in Korean.</a:t>
            </a:r>
          </a:p>
        </p:txBody>
      </p:sp>
      <p:sp>
        <p:nvSpPr>
          <p:cNvPr id="12" name="">
            <a:extLst xmlns:a="http://schemas.openxmlformats.org/drawingml/2006/main">
              <a:ext uri="{FF2B5EF4-FFF2-40B4-BE49-F238E27FC236}">
                <a16:creationId xmlns:a16="http://schemas.microsoft.com/office/drawing/2014/main" id="{CDB7577E-FA9A-4516-88BD-F2AA55FC6EB2}"/>
              </a:ext>
            </a:extLst>
          </p:cNvPr>
          <p:cNvSpPr>
            <a:spLocks xmlns:a="http://schemas.openxmlformats.org/drawingml/2006/main" noGrp="1"/>
          </p:cNvSpPr>
          <p:nvPr/>
        </p:nvSpPr>
        <p:spPr>
          <a:xfrm xmlns:a="http://schemas.openxmlformats.org/drawingml/2006/main">
            <a:off x="704850" y="5943600"/>
            <a:ext cx="10753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4756D"/>
                </a:solidFill>
                <a:latin typeface="Arial"/>
                <a:ea typeface="Arial"/>
                <a:cs typeface="Arial"/>
              </a:defRPr>
            </a:pPr>
            <a:r>
              <a:rPr sz="1575" b="0">
                <a:solidFill>
                  <a:srgbClr val="64756D"/>
                </a:solidFill>
                <a:latin typeface="Arial"/>
                <a:ea typeface="Arial"/>
                <a:cs typeface="Arial"/>
              </a:rPr>
              <a:t>Completion requires every required answer and a confirmed readback.</a:t>
            </a:r>
          </a:p>
        </p:txBody>
      </p:sp>
    </p:spTree>
    <p:extLst>
      <p:ext uri="{BB962C8B-B14F-4D97-AF65-F5344CB8AC3E}">
        <p14:creationId xmlns:p14="http://schemas.microsoft.com/office/powerpoint/2010/main" val="662049191"/>
      </p:ext>
    </p:extLst>
  </p:cSld>
</p:sld>
</file>

<file path=ppt/slides/slide4.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B3469B0-D1DB-4A54-BFBC-F84E118D5341}"/>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What is verified</a:t>
            </a:r>
          </a:p>
        </p:txBody>
      </p:sp>
      <p:sp>
        <p:nvSpPr>
          <p:cNvPr id="2" name="">
            <a:extLst xmlns:a="http://schemas.openxmlformats.org/drawingml/2006/main">
              <a:ext uri="{FF2B5EF4-FFF2-40B4-BE49-F238E27FC236}">
                <a16:creationId xmlns:a16="http://schemas.microsoft.com/office/drawing/2014/main" id="{2C3C8AC7-9168-48CD-BC85-505C622ADC58}"/>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B4F348B6-EF36-46BB-A30A-FA572C284FEB}"/>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4 / 5</a:t>
            </a:r>
          </a:p>
        </p:txBody>
      </p:sp>
      <p:sp>
        <p:nvSpPr>
          <p:cNvPr id="4" name="">
            <a:extLst xmlns:a="http://schemas.openxmlformats.org/drawingml/2006/main">
              <a:ext uri="{FF2B5EF4-FFF2-40B4-BE49-F238E27FC236}">
                <a16:creationId xmlns:a16="http://schemas.microsoft.com/office/drawing/2014/main" id="{38D88F2E-9C1B-486B-98C5-D872D2848F1B}"/>
              </a:ext>
            </a:extLst>
          </p:cNvPr>
          <p:cNvSpPr>
            <a:spLocks xmlns:a="http://schemas.openxmlformats.org/drawingml/2006/main" noGrp="1"/>
          </p:cNvSpPr>
          <p:nvPr/>
        </p:nvSpPr>
        <p:spPr>
          <a:xfrm xmlns:a="http://schemas.openxmlformats.org/drawingml/2006/main">
            <a:off x="704850" y="15525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Customer interface and Codex checks</a:t>
            </a:r>
          </a:p>
        </p:txBody>
      </p:sp>
      <p:sp>
        <p:nvSpPr>
          <p:cNvPr id="5" name="">
            <a:extLst xmlns:a="http://schemas.openxmlformats.org/drawingml/2006/main">
              <a:ext uri="{FF2B5EF4-FFF2-40B4-BE49-F238E27FC236}">
                <a16:creationId xmlns:a16="http://schemas.microsoft.com/office/drawing/2014/main" id="{215DFD8D-0070-40CC-94B4-916688B37800}"/>
              </a:ext>
            </a:extLst>
          </p:cNvPr>
          <p:cNvSpPr>
            <a:spLocks xmlns:a="http://schemas.openxmlformats.org/drawingml/2006/main" noGrp="1"/>
          </p:cNvSpPr>
          <p:nvPr/>
        </p:nvSpPr>
        <p:spPr>
          <a:xfrm xmlns:a="http://schemas.openxmlformats.org/drawingml/2006/main">
            <a:off x="704850" y="20097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20 synthetic browser checks passed across English, Russian, and Chinese.</a:t>
            </a:r>
          </a:p>
        </p:txBody>
      </p:sp>
      <p:sp>
        <p:nvSpPr>
          <p:cNvPr id="6" name="">
            <a:extLst xmlns:a="http://schemas.openxmlformats.org/drawingml/2006/main">
              <a:ext uri="{FF2B5EF4-FFF2-40B4-BE49-F238E27FC236}">
                <a16:creationId xmlns:a16="http://schemas.microsoft.com/office/drawing/2014/main" id="{2BB540F9-BB90-420D-8B2A-29F5EC80A688}"/>
              </a:ext>
            </a:extLst>
          </p:cNvPr>
          <p:cNvSpPr>
            <a:spLocks xmlns:a="http://schemas.openxmlformats.org/drawingml/2006/main" noGrp="1"/>
          </p:cNvSpPr>
          <p:nvPr/>
        </p:nvSpPr>
        <p:spPr>
          <a:xfrm xmlns:a="http://schemas.openxmlformats.org/drawingml/2006/main">
            <a:off x="704850" y="25336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64756D"/>
                </a:solidFill>
                <a:latin typeface="Arial"/>
                <a:ea typeface="Arial"/>
                <a:cs typeface="Arial"/>
              </a:defRPr>
            </a:pPr>
            <a:r>
              <a:rPr sz="1725" b="0">
                <a:solidFill>
                  <a:srgbClr val="64756D"/>
                </a:solidFill>
                <a:latin typeface="Arial"/>
                <a:ea typeface="Arial"/>
                <a:cs typeface="Arial"/>
              </a:rPr>
              <a:t>Checks use mocked API responses. They do not verify real AI or speech.</a:t>
            </a:r>
          </a:p>
        </p:txBody>
      </p:sp>
      <p:sp>
        <p:nvSpPr>
          <p:cNvPr id="7" name="">
            <a:extLst xmlns:a="http://schemas.openxmlformats.org/drawingml/2006/main">
              <a:ext uri="{FF2B5EF4-FFF2-40B4-BE49-F238E27FC236}">
                <a16:creationId xmlns:a16="http://schemas.microsoft.com/office/drawing/2014/main" id="{11F38914-7CE3-406E-AA4A-A531F8CD8DD4}"/>
              </a:ext>
            </a:extLst>
          </p:cNvPr>
          <p:cNvSpPr>
            <a:spLocks xmlns:a="http://schemas.openxmlformats.org/drawingml/2006/main" noGrp="1"/>
          </p:cNvSpPr>
          <p:nvPr/>
        </p:nvSpPr>
        <p:spPr>
          <a:xfrm xmlns:a="http://schemas.openxmlformats.org/drawingml/2006/main">
            <a:off x="704850" y="31908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Live OpenAI conversation</a:t>
            </a:r>
          </a:p>
        </p:txBody>
      </p:sp>
      <p:sp>
        <p:nvSpPr>
          <p:cNvPr id="8" name="">
            <a:extLst xmlns:a="http://schemas.openxmlformats.org/drawingml/2006/main">
              <a:ext uri="{FF2B5EF4-FFF2-40B4-BE49-F238E27FC236}">
                <a16:creationId xmlns:a16="http://schemas.microsoft.com/office/drawing/2014/main" id="{5E6EC730-A647-4043-8F2B-7187617C0235}"/>
              </a:ext>
            </a:extLst>
          </p:cNvPr>
          <p:cNvSpPr>
            <a:spLocks xmlns:a="http://schemas.openxmlformats.org/drawingml/2006/main" noGrp="1"/>
          </p:cNvSpPr>
          <p:nvPr/>
        </p:nvSpPr>
        <p:spPr>
          <a:xfrm xmlns:a="http://schemas.openxmlformats.org/drawingml/2006/main">
            <a:off x="704850" y="36766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986224"/>
                </a:solidFill>
                <a:latin typeface="Arial"/>
                <a:ea typeface="Arial"/>
                <a:cs typeface="Arial"/>
              </a:defRPr>
            </a:pPr>
            <a:r>
              <a:rPr sz="2100" b="1">
                <a:solidFill>
                  <a:srgbClr val="986224"/>
                </a:solidFill>
                <a:latin typeface="Arial"/>
                <a:ea typeface="Arial"/>
                <a:cs typeface="Arial"/>
              </a:rPr>
              <a:t>Blocked: the configured API account has no credit (HTTP 429).</a:t>
            </a:r>
          </a:p>
        </p:txBody>
      </p:sp>
      <p:sp>
        <p:nvSpPr>
          <p:cNvPr id="9" name="">
            <a:extLst xmlns:a="http://schemas.openxmlformats.org/drawingml/2006/main">
              <a:ext uri="{FF2B5EF4-FFF2-40B4-BE49-F238E27FC236}">
                <a16:creationId xmlns:a16="http://schemas.microsoft.com/office/drawing/2014/main" id="{CE18FDA1-4581-4D1A-A0BE-496410345C5A}"/>
              </a:ext>
            </a:extLst>
          </p:cNvPr>
          <p:cNvSpPr>
            <a:spLocks xmlns:a="http://schemas.openxmlformats.org/drawingml/2006/main" noGrp="1"/>
          </p:cNvSpPr>
          <p:nvPr/>
        </p:nvSpPr>
        <p:spPr>
          <a:xfrm xmlns:a="http://schemas.openxmlformats.org/drawingml/2006/main">
            <a:off x="704850" y="45339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Korean microphone and audible Realtime speech</a:t>
            </a:r>
          </a:p>
        </p:txBody>
      </p:sp>
      <p:sp>
        <p:nvSpPr>
          <p:cNvPr id="10" name="">
            <a:extLst xmlns:a="http://schemas.openxmlformats.org/drawingml/2006/main">
              <a:ext uri="{FF2B5EF4-FFF2-40B4-BE49-F238E27FC236}">
                <a16:creationId xmlns:a16="http://schemas.microsoft.com/office/drawing/2014/main" id="{D6B1046E-57B1-4DF3-B98B-5E1974DF2768}"/>
              </a:ext>
            </a:extLst>
          </p:cNvPr>
          <p:cNvSpPr>
            <a:spLocks xmlns:a="http://schemas.openxmlformats.org/drawingml/2006/main" noGrp="1"/>
          </p:cNvSpPr>
          <p:nvPr/>
        </p:nvSpPr>
        <p:spPr>
          <a:xfrm xmlns:a="http://schemas.openxmlformats.org/drawingml/2006/main">
            <a:off x="704850" y="50101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986224"/>
                </a:solidFill>
                <a:latin typeface="Arial"/>
                <a:ea typeface="Arial"/>
                <a:cs typeface="Arial"/>
              </a:defRPr>
            </a:pPr>
            <a:r>
              <a:rPr sz="2100" b="1">
                <a:solidFill>
                  <a:srgbClr val="986224"/>
                </a:solidFill>
                <a:latin typeface="Arial"/>
                <a:ea typeface="Arial"/>
                <a:cs typeface="Arial"/>
              </a:rPr>
              <a:t>Unverified: no completed live microphone and speaker run.</a:t>
            </a:r>
          </a:p>
        </p:txBody>
      </p:sp>
      <p:sp>
        <p:nvSpPr>
          <p:cNvPr id="11" name="">
            <a:extLst xmlns:a="http://schemas.openxmlformats.org/drawingml/2006/main">
              <a:ext uri="{FF2B5EF4-FFF2-40B4-BE49-F238E27FC236}">
                <a16:creationId xmlns:a16="http://schemas.microsoft.com/office/drawing/2014/main" id="{5548149E-5B6B-44B6-93F8-7443C2776D2E}"/>
              </a:ext>
            </a:extLst>
          </p:cNvPr>
          <p:cNvSpPr>
            <a:spLocks xmlns:a="http://schemas.openxmlformats.org/drawingml/2006/main" noGrp="1"/>
          </p:cNvSpPr>
          <p:nvPr/>
        </p:nvSpPr>
        <p:spPr>
          <a:xfrm xmlns:a="http://schemas.openxmlformats.org/drawingml/2006/main">
            <a:off x="704850" y="574357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4756D"/>
                </a:solidFill>
                <a:latin typeface="Arial"/>
                <a:ea typeface="Arial"/>
                <a:cs typeface="Arial"/>
              </a:defRPr>
            </a:pPr>
            <a:r>
              <a:rPr sz="1650" b="0">
                <a:solidFill>
                  <a:srgbClr val="64756D"/>
                </a:solidFill>
                <a:latin typeface="Arial"/>
                <a:ea typeface="Arial"/>
                <a:cs typeface="Arial"/>
              </a:rPr>
              <a:t>Codex built call-state rules and UI checks. We tested connection loss,</a:t>
            </a:r>
          </a:p>
          <a:p xmlns:a="http://schemas.openxmlformats.org/drawingml/2006/main">
            <a:pPr>
              <a:defRPr sz="1650" b="0">
                <a:solidFill>
                  <a:srgbClr val="64756D"/>
                </a:solidFill>
                <a:latin typeface="Arial"/>
                <a:ea typeface="Arial"/>
                <a:cs typeface="Arial"/>
              </a:defRPr>
            </a:pPr>
            <a:r>
              <a:rPr sz="1650" b="0">
                <a:solidFill>
                  <a:srgbClr val="64756D"/>
                </a:solidFill>
                <a:latin typeface="Arial"/>
                <a:ea typeface="Arial"/>
                <a:cs typeface="Arial"/>
              </a:rPr>
              <a:t>unknown-detail relay, and incomplete endings against explicit expectations.</a:t>
            </a:r>
          </a:p>
        </p:txBody>
      </p:sp>
    </p:spTree>
    <p:extLst>
      <p:ext uri="{BB962C8B-B14F-4D97-AF65-F5344CB8AC3E}">
        <p14:creationId xmlns:p14="http://schemas.microsoft.com/office/powerpoint/2010/main" val="1971482680"/>
      </p:ext>
    </p:extLst>
  </p:cSld>
</p:sld>
</file>

<file path=ppt/slides/slide5.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AEBECED-6619-4D49-A7E0-27C5BADD345F}"/>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Value hypothesis and scope</a:t>
            </a:r>
          </a:p>
        </p:txBody>
      </p:sp>
      <p:sp>
        <p:nvSpPr>
          <p:cNvPr id="2" name="">
            <a:extLst xmlns:a="http://schemas.openxmlformats.org/drawingml/2006/main">
              <a:ext uri="{FF2B5EF4-FFF2-40B4-BE49-F238E27FC236}">
                <a16:creationId xmlns:a16="http://schemas.microsoft.com/office/drawing/2014/main" id="{D2B74757-85F2-4C90-A5CF-37DDF9701C7B}"/>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3C19B69C-2B41-4B4B-BD52-A557D77D2B01}"/>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5 / 5</a:t>
            </a:r>
          </a:p>
        </p:txBody>
      </p:sp>
      <p:sp>
        <p:nvSpPr>
          <p:cNvPr id="4" name="">
            <a:extLst xmlns:a="http://schemas.openxmlformats.org/drawingml/2006/main">
              <a:ext uri="{FF2B5EF4-FFF2-40B4-BE49-F238E27FC236}">
                <a16:creationId xmlns:a16="http://schemas.microsoft.com/office/drawing/2014/main" id="{BA5A686C-ABA3-4CB8-A7CE-9037C6D9C3B0}"/>
              </a:ext>
            </a:extLst>
          </p:cNvPr>
          <p:cNvSpPr>
            <a:spLocks xmlns:a="http://schemas.openxmlformats.org/drawingml/2006/main" noGrp="1"/>
          </p:cNvSpPr>
          <p:nvPr/>
        </p:nvSpPr>
        <p:spPr>
          <a:xfrm xmlns:a="http://schemas.openxmlformats.org/drawingml/2006/main">
            <a:off x="704850" y="1704975"/>
            <a:ext cx="108108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Can a text conversation reduce the barrier</a:t>
            </a:r>
          </a:p>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to getting help from a Korean business?</a:t>
            </a:r>
          </a:p>
        </p:txBody>
      </p:sp>
      <p:sp>
        <p:nvSpPr>
          <p:cNvPr id="5" name="">
            <a:extLst xmlns:a="http://schemas.openxmlformats.org/drawingml/2006/main">
              <a:ext uri="{FF2B5EF4-FFF2-40B4-BE49-F238E27FC236}">
                <a16:creationId xmlns:a16="http://schemas.microsoft.com/office/drawing/2014/main" id="{7C4CCC10-1D2B-41F5-BDE3-60FE6D0DBB6B}"/>
              </a:ext>
            </a:extLst>
          </p:cNvPr>
          <p:cNvSpPr>
            <a:spLocks xmlns:a="http://schemas.openxmlformats.org/drawingml/2006/main" noGrp="1"/>
          </p:cNvSpPr>
          <p:nvPr/>
        </p:nvSpPr>
        <p:spPr>
          <a:xfrm xmlns:a="http://schemas.openxmlformats.org/drawingml/2006/main">
            <a:off x="704850" y="34004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986224"/>
                </a:solidFill>
                <a:latin typeface="Arial"/>
                <a:ea typeface="Arial"/>
                <a:cs typeface="Arial"/>
              </a:defRPr>
            </a:pPr>
            <a:r>
              <a:rPr sz="3225" b="1">
                <a:solidFill>
                  <a:srgbClr val="986224"/>
                </a:solidFill>
                <a:latin typeface="Arial"/>
                <a:ea typeface="Arial"/>
                <a:cs typeface="Arial"/>
              </a:rPr>
              <a:t>User value: Unverified</a:t>
            </a:r>
          </a:p>
        </p:txBody>
      </p:sp>
      <p:sp>
        <p:nvSpPr>
          <p:cNvPr id="6" name="">
            <a:extLst xmlns:a="http://schemas.openxmlformats.org/drawingml/2006/main">
              <a:ext uri="{FF2B5EF4-FFF2-40B4-BE49-F238E27FC236}">
                <a16:creationId xmlns:a16="http://schemas.microsoft.com/office/drawing/2014/main" id="{DA7FC24C-F5B3-43AA-845B-C19927470BB1}"/>
              </a:ext>
            </a:extLst>
          </p:cNvPr>
          <p:cNvSpPr>
            <a:spLocks xmlns:a="http://schemas.openxmlformats.org/drawingml/2006/main" noGrp="1"/>
          </p:cNvSpPr>
          <p:nvPr/>
        </p:nvSpPr>
        <p:spPr>
          <a:xfrm xmlns:a="http://schemas.openxmlformats.org/drawingml/2006/main">
            <a:off x="704850" y="40767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No feedback from actual target users has been collected.</a:t>
            </a:r>
          </a:p>
        </p:txBody>
      </p:sp>
      <p:sp>
        <p:nvSpPr>
          <p:cNvPr id="7" name="">
            <a:extLst xmlns:a="http://schemas.openxmlformats.org/drawingml/2006/main">
              <a:ext uri="{FF2B5EF4-FFF2-40B4-BE49-F238E27FC236}">
                <a16:creationId xmlns:a16="http://schemas.microsoft.com/office/drawing/2014/main" id="{77F85AA1-B41B-4E91-8777-D340ED1BED97}"/>
              </a:ext>
            </a:extLst>
          </p:cNvPr>
          <p:cNvSpPr>
            <a:spLocks xmlns:a="http://schemas.openxmlformats.org/drawingml/2006/main" noGrp="1"/>
          </p:cNvSpPr>
          <p:nvPr/>
        </p:nvSpPr>
        <p:spPr>
          <a:xfrm xmlns:a="http://schemas.openxmlformats.org/drawingml/2006/main">
            <a:off x="704850" y="49530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Today’s scope</a:t>
            </a:r>
          </a:p>
        </p:txBody>
      </p:sp>
      <p:sp>
        <p:nvSpPr>
          <p:cNvPr id="8" name="">
            <a:extLst xmlns:a="http://schemas.openxmlformats.org/drawingml/2006/main">
              <a:ext uri="{FF2B5EF4-FFF2-40B4-BE49-F238E27FC236}">
                <a16:creationId xmlns:a16="http://schemas.microsoft.com/office/drawing/2014/main" id="{202083AE-6BA0-4372-BE7F-10D198682A9C}"/>
              </a:ext>
            </a:extLst>
          </p:cNvPr>
          <p:cNvSpPr>
            <a:spLocks xmlns:a="http://schemas.openxmlformats.org/drawingml/2006/main" noGrp="1"/>
          </p:cNvSpPr>
          <p:nvPr/>
        </p:nvSpPr>
        <p:spPr>
          <a:xfrm xmlns:a="http://schemas.openxmlformats.org/drawingml/2006/main">
            <a:off x="704850" y="54292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Fictional institutions. Simulated calls in two laptop tabs.</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No real calls, real discovery, or reception/doctor sheets.</a:t>
            </a:r>
          </a:p>
        </p:txBody>
      </p:sp>
    </p:spTree>
    <p:extLst>
      <p:ext uri="{BB962C8B-B14F-4D97-AF65-F5344CB8AC3E}">
        <p14:creationId xmlns:p14="http://schemas.microsoft.com/office/powerpoint/2010/main" val="20578271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2026-09-29T05:02:14.0260000Z</dcterms:created>
  <dcterms:modified xsi:type="dcterms:W3CDTF">2026-09-29T05:02:14.0260000Z</dcterms:modified>
</coreProperties>
</file>