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db549661e54fa9" /><Relationship Type="http://schemas.openxmlformats.org/officeDocument/2006/relationships/extended-properties" Target="/docProps/app.xml" Id="Rd92270390f674bc9" /><Relationship Type="http://schemas.openxmlformats.org/officeDocument/2006/relationships/officeDocument" Target="/ppt/presentation.xml" Id="Re4a5468c3fa942de" /></Relationships>
</file>

<file path=ppt/presentation.xml><?xml version="1.0" encoding="utf-8"?>
<p:presentation xmlns:p="http://schemas.openxmlformats.org/presentationml/2006/main">
  <p:sldMasterIdLst>
    <p:sldMasterId xmlns:r="http://schemas.openxmlformats.org/officeDocument/2006/relationships" id="2147483648" r:id="R1732f969247142ba"/>
  </p:sldMasterIdLst>
  <p:notesMasterIdLst>
    <p:notesMasterId xmlns:r="http://schemas.openxmlformats.org/officeDocument/2006/relationships" r:id="R75f1cff8defa483f"/>
  </p:notesMasterIdLst>
  <p:sldIdLst>
    <p:sldId xmlns:r="http://schemas.openxmlformats.org/officeDocument/2006/relationships" id="256" r:id="R79c6a600a72947d1"/>
    <p:sldId xmlns:r="http://schemas.openxmlformats.org/officeDocument/2006/relationships" id="257" r:id="R97d35868662d4bde"/>
    <p:sldId xmlns:r="http://schemas.openxmlformats.org/officeDocument/2006/relationships" id="258" r:id="Rac3d6698052d4e32"/>
    <p:sldId xmlns:r="http://schemas.openxmlformats.org/officeDocument/2006/relationships" id="259" r:id="R5f840bbd5bf347ac"/>
    <p:sldId xmlns:r="http://schemas.openxmlformats.org/officeDocument/2006/relationships" id="260" r:id="R546dc1a6003948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09bacf0c3b4505" /><Relationship Type="http://schemas.openxmlformats.org/officeDocument/2006/relationships/slideMaster" Target="/ppt/slideMasters/slideMaster1.xml" Id="R1732f969247142ba" /><Relationship Type="http://schemas.openxmlformats.org/officeDocument/2006/relationships/notesMaster" Target="/ppt/notesMasters/notesMaster1.xml" Id="R75f1cff8defa483f" /><Relationship Type="http://schemas.openxmlformats.org/officeDocument/2006/relationships/presProps" Target="/ppt/presProps.xml" Id="R748d12df0dfd4bfd" /><Relationship Type="http://schemas.openxmlformats.org/officeDocument/2006/relationships/tableStyles" Target="/ppt/tableStyles.xml" Id="R7cb3b38585114763" /><Relationship Type="http://schemas.openxmlformats.org/officeDocument/2006/relationships/slide" Target="/ppt/slides/slide1.xml" Id="R79c6a600a72947d1" /><Relationship Type="http://schemas.openxmlformats.org/officeDocument/2006/relationships/slide" Target="/ppt/slides/slide2.xml" Id="R97d35868662d4bde" /><Relationship Type="http://schemas.openxmlformats.org/officeDocument/2006/relationships/slide" Target="/ppt/slides/slide3.xml" Id="Rac3d6698052d4e32" /><Relationship Type="http://schemas.openxmlformats.org/officeDocument/2006/relationships/slide" Target="/ppt/slides/slide4.xml" Id="R5f840bbd5bf347ac" /><Relationship Type="http://schemas.openxmlformats.org/officeDocument/2006/relationships/slide" Target="/ppt/slides/slide5.xml" Id="R546dc1a6003948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36ffb95e4c4b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642a0849c14e65" /><Relationship Type="http://schemas.openxmlformats.org/officeDocument/2006/relationships/notesMaster" Target="/ppt/notesMasters/notesMaster1.xml" Id="R1a3346778d7f41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6899926a284485" /><Relationship Type="http://schemas.openxmlformats.org/officeDocument/2006/relationships/notesMaster" Target="/ppt/notesMasters/notesMaster1.xml" Id="R3d78056e441c4e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fc3d8a6583452c" /><Relationship Type="http://schemas.openxmlformats.org/officeDocument/2006/relationships/notesMaster" Target="/ppt/notesMasters/notesMaster1.xml" Id="R4d990d9813954e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9ebd017169485d" /><Relationship Type="http://schemas.openxmlformats.org/officeDocument/2006/relationships/notesMaster" Target="/ppt/notesMasters/notesMaster1.xml" Id="Rd63b6740619740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d573c62d564d1e" /><Relationship Type="http://schemas.openxmlformats.org/officeDocument/2006/relationships/notesMaster" Target="/ppt/notesMasters/notesMaster1.xml" Id="R12ff7fc97ea245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0:00–0:25. Explain the intended users and problem. This is a product hypothesis, not a claim of validated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0:25–0:55. Show the clean chat interface and language selection. The interview, institutions and required questions come from the model. These are intended runtime steps; the current verification status is on slide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0:55–2:00. Open a separate business tab on the same laptop. It must remain inactive before customer authorization. Accept only when incoming. Use fictional customer details and business answers. Choose an unknown customer detail based on the actual interview, rather than assuming prior-visit status is unknown. The third actual rehearsal captured four business answers and a readback, but confirmation reset the answers and the teammate disconnected. Unknown-detail relay and a normal completed call remain unverified. Demonstrate these steps only if a new real run actually reaches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2:00–2:30. The current code checkpoint has 57 local tests, 17 local HTTP checks, 20 mocked customer browser checks, and 11 mocked business browser checks. These are different evidence classes. The third real laptop microphone run captured four actual Korean business answers and an assistant readback, including qualified cost uncertainty. Business confirmation incorrectly reset the resolved state; the human disconnected. Korean audibility was human-confirmed in the first attempt only. Unknown-detail relay was not exercised in the third attempt. Later readback fixes require another live rehearsal. Real Russian and Chinese interviews were exercised, but Korean question fidelity and unsupported first-visit wording remain limited. Sources: artifacts/v2/live-native-rehearsal-third-attempt.json; artifacts/v2/live-native-third-attempt-audit.json; artifacts/v2/customer-ui-check.json; docs/v2-verification.md. These local evidence files are not raw material for the official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2:30–3:00. Show the resulting summary and recommendation only if a real conversation has produced them. Explain unresolved information and testing limits. Describe the representative Codex contribution: dynamic state and authorization checks, language coverage, and explicit synthetic-vs-live evidence. Do not claim target-user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b9a2ed23094c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d1d4b7ac90447d" /><Relationship Type="http://schemas.openxmlformats.org/officeDocument/2006/relationships/slideLayout" Target="/ppt/slideLayouts/slideLayout1.xml" Id="R0e273f56b4ea4a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273f56b4ea4a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77234bf62e4271" /><Relationship Type="http://schemas.openxmlformats.org/officeDocument/2006/relationships/notesSlide" Target="/ppt/notesSlides/notesSlide1.xml" Id="R2c23d4c876934d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077ea90d8c4e93" /><Relationship Type="http://schemas.openxmlformats.org/officeDocument/2006/relationships/notesSlide" Target="/ppt/notesSlides/notesSlide2.xml" Id="Re1a2e61c534643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2b66ef01bf49fb" /><Relationship Type="http://schemas.openxmlformats.org/officeDocument/2006/relationships/notesSlide" Target="/ppt/notesSlides/notesSlide3.xml" Id="R3ade9e0be0d84d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f4568b26d24957" /><Relationship Type="http://schemas.openxmlformats.org/officeDocument/2006/relationships/notesSlide" Target="/ppt/notesSlides/notesSlide4.xml" Id="Re9933e6aa02845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9311294f5c4279" /><Relationship Type="http://schemas.openxmlformats.org/officeDocument/2006/relationships/notesSlide" Target="/ppt/notesSlides/notesSlide5.xml" Id="R49037f106cf342af" /></Relationships>
</file>

<file path=ppt/slides/slide1.xml><?xml version="1.0" encoding="utf-8"?>
<p:sld xmlns:p="http://schemas.openxmlformats.org/presentationml/2006/main">
  <p:cSld>
    <p:bg>
      <p:bgPr>
        <a:solidFill xmlns:a="http://schemas.openxmlformats.org/drawingml/2006/main">
          <a:srgbClr val="1B51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10F6D8-A84C-4E3E-9055-99564B9060C2}"/>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YOKOBU v2 · Fictional institutions · Simulated calls only</a:t>
            </a:r>
          </a:p>
        </p:txBody>
      </p:sp>
      <p:sp>
        <p:nvSpPr>
          <p:cNvPr id="2" name="">
            <a:extLst xmlns:a="http://schemas.openxmlformats.org/drawingml/2006/main">
              <a:ext uri="{FF2B5EF4-FFF2-40B4-BE49-F238E27FC236}">
                <a16:creationId xmlns:a16="http://schemas.microsoft.com/office/drawing/2014/main" id="{DC2A8840-16A9-4379-B089-AA3496F3EF92}"/>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4D120FD0-7B08-45F1-B83F-12441D5FF386}"/>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a:solidFill>
                  <a:srgbClr val="E4F4A2"/>
                </a:solidFill>
                <a:latin typeface="Arial"/>
                <a:ea typeface="Arial"/>
                <a:cs typeface="Arial"/>
              </a:defRPr>
            </a:pPr>
            <a:r>
              <a:rPr sz="6300" b="1">
                <a:solidFill>
                  <a:srgbClr val="E4F4A2"/>
                </a:solidFill>
                <a:latin typeface="Arial"/>
                <a:ea typeface="Arial"/>
                <a:cs typeface="Arial"/>
              </a:rPr>
              <a:t>YOKOBU</a:t>
            </a:r>
          </a:p>
        </p:txBody>
      </p:sp>
      <p:sp>
        <p:nvSpPr>
          <p:cNvPr id="4" name="">
            <a:extLst xmlns:a="http://schemas.openxmlformats.org/drawingml/2006/main">
              <a:ext uri="{FF2B5EF4-FFF2-40B4-BE49-F238E27FC236}">
                <a16:creationId xmlns:a16="http://schemas.microsoft.com/office/drawing/2014/main" id="{B55FF9D0-B6FA-457B-B997-144F92834DC0}"/>
              </a:ext>
            </a:extLst>
          </p:cNvPr>
          <p:cNvSpPr>
            <a:spLocks xmlns:a="http://schemas.openxmlformats.org/drawingml/2006/main" noGrp="1"/>
          </p:cNvSpPr>
          <p:nvPr/>
        </p:nvSpPr>
        <p:spPr>
          <a:xfrm xmlns:a="http://schemas.openxmlformats.org/drawingml/2006/main">
            <a:off x="685800" y="1990725"/>
            <a:ext cx="10820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text interface for</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Korean business conversations</a:t>
            </a:r>
          </a:p>
        </p:txBody>
      </p:sp>
      <p:sp>
        <p:nvSpPr>
          <p:cNvPr id="5" name="">
            <a:extLst xmlns:a="http://schemas.openxmlformats.org/drawingml/2006/main">
              <a:ext uri="{FF2B5EF4-FFF2-40B4-BE49-F238E27FC236}">
                <a16:creationId xmlns:a16="http://schemas.microsoft.com/office/drawing/2014/main" id="{A55C45B0-788B-47A9-95D6-41FD1EB0AD05}"/>
              </a:ext>
            </a:extLst>
          </p:cNvPr>
          <p:cNvSpPr>
            <a:spLocks xmlns:a="http://schemas.openxmlformats.org/drawingml/2006/main" noGrp="1"/>
          </p:cNvSpPr>
          <p:nvPr/>
        </p:nvSpPr>
        <p:spPr>
          <a:xfrm xmlns:a="http://schemas.openxmlformats.org/drawingml/2006/main">
            <a:off x="723900" y="39433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For expats, tourists, and deaf or hard-of-hearing</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users in Korea who need information or help.</a:t>
            </a:r>
          </a:p>
        </p:txBody>
      </p:sp>
      <p:sp>
        <p:nvSpPr>
          <p:cNvPr id="6" name="">
            <a:extLst xmlns:a="http://schemas.openxmlformats.org/drawingml/2006/main">
              <a:ext uri="{FF2B5EF4-FFF2-40B4-BE49-F238E27FC236}">
                <a16:creationId xmlns:a16="http://schemas.microsoft.com/office/drawing/2014/main" id="{FA3C3B6E-1613-4D2D-82E2-035E5A01D9F9}"/>
              </a:ext>
            </a:extLst>
          </p:cNvPr>
          <p:cNvSpPr>
            <a:spLocks xmlns:a="http://schemas.openxmlformats.org/drawingml/2006/main" noGrp="1"/>
          </p:cNvSpPr>
          <p:nvPr/>
        </p:nvSpPr>
        <p:spPr>
          <a:xfrm xmlns:a="http://schemas.openxmlformats.org/drawingml/2006/main">
            <a:off x="723900" y="52197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Language and accessibility barriers can prevent people</a:t>
            </a:r>
          </a:p>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from getting the information they need by phone.</a:t>
            </a:r>
          </a:p>
        </p:txBody>
      </p:sp>
    </p:spTree>
    <p:extLst>
      <p:ext uri="{BB962C8B-B14F-4D97-AF65-F5344CB8AC3E}">
        <p14:creationId xmlns:p14="http://schemas.microsoft.com/office/powerpoint/2010/main" val="151634298"/>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E13DAF3-E77B-46F2-B59C-B37F6CF39C3C}"/>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customer experience</a:t>
            </a:r>
          </a:p>
        </p:txBody>
      </p:sp>
      <p:sp>
        <p:nvSpPr>
          <p:cNvPr id="2" name="">
            <a:extLst xmlns:a="http://schemas.openxmlformats.org/drawingml/2006/main">
              <a:ext uri="{FF2B5EF4-FFF2-40B4-BE49-F238E27FC236}">
                <a16:creationId xmlns:a16="http://schemas.microsoft.com/office/drawing/2014/main" id="{581FB833-2D61-4C91-9684-2BFBCF0924EA}"/>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B1B81C7E-B673-4695-A80A-CED30CFC5C51}"/>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2F55C80D-639F-4859-8450-99C77C769870}"/>
              </a:ext>
            </a:extLst>
          </p:cNvPr>
          <p:cNvSpPr>
            <a:spLocks xmlns:a="http://schemas.openxmlformats.org/drawingml/2006/main" noGrp="1"/>
          </p:cNvSpPr>
          <p:nvPr/>
        </p:nvSpPr>
        <p:spPr>
          <a:xfrm xmlns:a="http://schemas.openxmlformats.org/drawingml/2006/main">
            <a:off x="704850" y="15906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F90DC65-FFD7-4DE4-8B8F-88AA8CC02EED}"/>
              </a:ext>
            </a:extLst>
          </p:cNvPr>
          <p:cNvSpPr>
            <a:spLocks xmlns:a="http://schemas.openxmlformats.org/drawingml/2006/main" noGrp="1"/>
          </p:cNvSpPr>
          <p:nvPr/>
        </p:nvSpPr>
        <p:spPr>
          <a:xfrm xmlns:a="http://schemas.openxmlformats.org/drawingml/2006/main">
            <a:off x="1647825" y="15906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Describe a need</a:t>
            </a:r>
          </a:p>
        </p:txBody>
      </p:sp>
      <p:sp>
        <p:nvSpPr>
          <p:cNvPr id="6" name="">
            <a:extLst xmlns:a="http://schemas.openxmlformats.org/drawingml/2006/main">
              <a:ext uri="{FF2B5EF4-FFF2-40B4-BE49-F238E27FC236}">
                <a16:creationId xmlns:a16="http://schemas.microsoft.com/office/drawing/2014/main" id="{7596CED8-D9FE-4BA0-BDF0-AB8192C81DA8}"/>
              </a:ext>
            </a:extLst>
          </p:cNvPr>
          <p:cNvSpPr>
            <a:spLocks xmlns:a="http://schemas.openxmlformats.org/drawingml/2006/main" noGrp="1"/>
          </p:cNvSpPr>
          <p:nvPr/>
        </p:nvSpPr>
        <p:spPr>
          <a:xfrm xmlns:a="http://schemas.openxmlformats.org/drawingml/2006/main">
            <a:off x="1666875" y="20097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English by default, with Russian and Chinese options.</a:t>
            </a:r>
          </a:p>
        </p:txBody>
      </p:sp>
      <p:sp>
        <p:nvSpPr>
          <p:cNvPr id="7" name="">
            <a:extLst xmlns:a="http://schemas.openxmlformats.org/drawingml/2006/main">
              <a:ext uri="{FF2B5EF4-FFF2-40B4-BE49-F238E27FC236}">
                <a16:creationId xmlns:a16="http://schemas.microsoft.com/office/drawing/2014/main" id="{2A9D09B8-421F-4934-A094-548845039F5F}"/>
              </a:ext>
            </a:extLst>
          </p:cNvPr>
          <p:cNvSpPr>
            <a:spLocks xmlns:a="http://schemas.openxmlformats.org/drawingml/2006/main" noGrp="1"/>
          </p:cNvSpPr>
          <p:nvPr/>
        </p:nvSpPr>
        <p:spPr>
          <a:xfrm xmlns:a="http://schemas.openxmlformats.org/drawingml/2006/main">
            <a:off x="704850" y="24765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718FE1E-A775-46BD-8905-FE3D7FFDA491}"/>
              </a:ext>
            </a:extLst>
          </p:cNvPr>
          <p:cNvSpPr>
            <a:spLocks xmlns:a="http://schemas.openxmlformats.org/drawingml/2006/main" noGrp="1"/>
          </p:cNvSpPr>
          <p:nvPr/>
        </p:nvSpPr>
        <p:spPr>
          <a:xfrm xmlns:a="http://schemas.openxmlformats.org/drawingml/2006/main">
            <a:off x="1647825" y="247650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Clarify through chat</a:t>
            </a:r>
          </a:p>
        </p:txBody>
      </p:sp>
      <p:sp>
        <p:nvSpPr>
          <p:cNvPr id="9" name="">
            <a:extLst xmlns:a="http://schemas.openxmlformats.org/drawingml/2006/main">
              <a:ext uri="{FF2B5EF4-FFF2-40B4-BE49-F238E27FC236}">
                <a16:creationId xmlns:a16="http://schemas.microsoft.com/office/drawing/2014/main" id="{F9DABD12-BC51-4244-9DC0-79D9F379069A}"/>
              </a:ext>
            </a:extLst>
          </p:cNvPr>
          <p:cNvSpPr>
            <a:spLocks xmlns:a="http://schemas.openxmlformats.org/drawingml/2006/main" noGrp="1"/>
          </p:cNvSpPr>
          <p:nvPr/>
        </p:nvSpPr>
        <p:spPr>
          <a:xfrm xmlns:a="http://schemas.openxmlformats.org/drawingml/2006/main">
            <a:off x="1666875" y="289560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OpenAI generates the interview and a concrete call plan.</a:t>
            </a:r>
          </a:p>
        </p:txBody>
      </p:sp>
      <p:sp>
        <p:nvSpPr>
          <p:cNvPr id="10" name="">
            <a:extLst xmlns:a="http://schemas.openxmlformats.org/drawingml/2006/main">
              <a:ext uri="{FF2B5EF4-FFF2-40B4-BE49-F238E27FC236}">
                <a16:creationId xmlns:a16="http://schemas.microsoft.com/office/drawing/2014/main" id="{0C381C49-1708-41E5-A360-B678C25E02B7}"/>
              </a:ext>
            </a:extLst>
          </p:cNvPr>
          <p:cNvSpPr>
            <a:spLocks xmlns:a="http://schemas.openxmlformats.org/drawingml/2006/main" noGrp="1"/>
          </p:cNvSpPr>
          <p:nvPr/>
        </p:nvSpPr>
        <p:spPr>
          <a:xfrm xmlns:a="http://schemas.openxmlformats.org/drawingml/2006/main">
            <a:off x="704850" y="33623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4298888-12BB-4846-96FF-E2EDE32836D2}"/>
              </a:ext>
            </a:extLst>
          </p:cNvPr>
          <p:cNvSpPr>
            <a:spLocks xmlns:a="http://schemas.openxmlformats.org/drawingml/2006/main" noGrp="1"/>
          </p:cNvSpPr>
          <p:nvPr/>
        </p:nvSpPr>
        <p:spPr>
          <a:xfrm xmlns:a="http://schemas.openxmlformats.org/drawingml/2006/main">
            <a:off x="1647825" y="336232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Review and authorize</a:t>
            </a:r>
          </a:p>
        </p:txBody>
      </p:sp>
      <p:sp>
        <p:nvSpPr>
          <p:cNvPr id="12" name="">
            <a:extLst xmlns:a="http://schemas.openxmlformats.org/drawingml/2006/main">
              <a:ext uri="{FF2B5EF4-FFF2-40B4-BE49-F238E27FC236}">
                <a16:creationId xmlns:a16="http://schemas.microsoft.com/office/drawing/2014/main" id="{D79BF030-390B-4DDA-BCC1-FEE2426CE9EC}"/>
              </a:ext>
            </a:extLst>
          </p:cNvPr>
          <p:cNvSpPr>
            <a:spLocks xmlns:a="http://schemas.openxmlformats.org/drawingml/2006/main" noGrp="1"/>
          </p:cNvSpPr>
          <p:nvPr/>
        </p:nvSpPr>
        <p:spPr>
          <a:xfrm xmlns:a="http://schemas.openxmlformats.org/drawingml/2006/main">
            <a:off x="1666875" y="378142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Choose a fictional institution, then explicitly say Yes.</a:t>
            </a:r>
          </a:p>
        </p:txBody>
      </p:sp>
      <p:sp>
        <p:nvSpPr>
          <p:cNvPr id="13" name="">
            <a:extLst xmlns:a="http://schemas.openxmlformats.org/drawingml/2006/main">
              <a:ext uri="{FF2B5EF4-FFF2-40B4-BE49-F238E27FC236}">
                <a16:creationId xmlns:a16="http://schemas.microsoft.com/office/drawing/2014/main" id="{90712DF0-88C4-44CC-B9C1-BBA72142B03B}"/>
              </a:ext>
            </a:extLst>
          </p:cNvPr>
          <p:cNvSpPr>
            <a:spLocks xmlns:a="http://schemas.openxmlformats.org/drawingml/2006/main" noGrp="1"/>
          </p:cNvSpPr>
          <p:nvPr/>
        </p:nvSpPr>
        <p:spPr>
          <a:xfrm xmlns:a="http://schemas.openxmlformats.org/drawingml/2006/main">
            <a:off x="704850" y="424815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C5F3527-4077-4BFB-A275-1EE0A4378B6D}"/>
              </a:ext>
            </a:extLst>
          </p:cNvPr>
          <p:cNvSpPr>
            <a:spLocks xmlns:a="http://schemas.openxmlformats.org/drawingml/2006/main" noGrp="1"/>
          </p:cNvSpPr>
          <p:nvPr/>
        </p:nvSpPr>
        <p:spPr>
          <a:xfrm xmlns:a="http://schemas.openxmlformats.org/drawingml/2006/main">
            <a:off x="1647825" y="424815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Resolve questions in Korean</a:t>
            </a:r>
          </a:p>
        </p:txBody>
      </p:sp>
      <p:sp>
        <p:nvSpPr>
          <p:cNvPr id="15" name="">
            <a:extLst xmlns:a="http://schemas.openxmlformats.org/drawingml/2006/main">
              <a:ext uri="{FF2B5EF4-FFF2-40B4-BE49-F238E27FC236}">
                <a16:creationId xmlns:a16="http://schemas.microsoft.com/office/drawing/2014/main" id="{84C0C6BE-7EB1-4733-A6BB-AABAF18EC4B8}"/>
              </a:ext>
            </a:extLst>
          </p:cNvPr>
          <p:cNvSpPr>
            <a:spLocks xmlns:a="http://schemas.openxmlformats.org/drawingml/2006/main" noGrp="1"/>
          </p:cNvSpPr>
          <p:nvPr/>
        </p:nvSpPr>
        <p:spPr>
          <a:xfrm xmlns:a="http://schemas.openxmlformats.org/drawingml/2006/main">
            <a:off x="1666875" y="466725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Realtime voice speaks to the teammate. Unknown details return to chat.</a:t>
            </a:r>
          </a:p>
        </p:txBody>
      </p:sp>
      <p:sp>
        <p:nvSpPr>
          <p:cNvPr id="16" name="">
            <a:extLst xmlns:a="http://schemas.openxmlformats.org/drawingml/2006/main">
              <a:ext uri="{FF2B5EF4-FFF2-40B4-BE49-F238E27FC236}">
                <a16:creationId xmlns:a16="http://schemas.microsoft.com/office/drawing/2014/main" id="{23289220-0FD1-46E4-A73E-EAEB884FDDA5}"/>
              </a:ext>
            </a:extLst>
          </p:cNvPr>
          <p:cNvSpPr>
            <a:spLocks xmlns:a="http://schemas.openxmlformats.org/drawingml/2006/main" noGrp="1"/>
          </p:cNvSpPr>
          <p:nvPr/>
        </p:nvSpPr>
        <p:spPr>
          <a:xfrm xmlns:a="http://schemas.openxmlformats.org/drawingml/2006/main">
            <a:off x="704850" y="51339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7D888013-61B3-4C50-ADE1-3CF298FEFDA7}"/>
              </a:ext>
            </a:extLst>
          </p:cNvPr>
          <p:cNvSpPr>
            <a:spLocks xmlns:a="http://schemas.openxmlformats.org/drawingml/2006/main" noGrp="1"/>
          </p:cNvSpPr>
          <p:nvPr/>
        </p:nvSpPr>
        <p:spPr>
          <a:xfrm xmlns:a="http://schemas.openxmlformats.org/drawingml/2006/main">
            <a:off x="1647825" y="51339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Receive the result</a:t>
            </a:r>
          </a:p>
        </p:txBody>
      </p:sp>
      <p:sp>
        <p:nvSpPr>
          <p:cNvPr id="18" name="">
            <a:extLst xmlns:a="http://schemas.openxmlformats.org/drawingml/2006/main">
              <a:ext uri="{FF2B5EF4-FFF2-40B4-BE49-F238E27FC236}">
                <a16:creationId xmlns:a16="http://schemas.microsoft.com/office/drawing/2014/main" id="{4AC6027D-DC8E-471F-80F6-6A3777095EA6}"/>
              </a:ext>
            </a:extLst>
          </p:cNvPr>
          <p:cNvSpPr>
            <a:spLocks xmlns:a="http://schemas.openxmlformats.org/drawingml/2006/main" noGrp="1"/>
          </p:cNvSpPr>
          <p:nvPr/>
        </p:nvSpPr>
        <p:spPr>
          <a:xfrm xmlns:a="http://schemas.openxmlformats.org/drawingml/2006/main">
            <a:off x="1666875" y="55530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A conversation-grounded summary and a reasoned recommendation.</a:t>
            </a:r>
          </a:p>
        </p:txBody>
      </p:sp>
    </p:spTree>
    <p:extLst>
      <p:ext uri="{BB962C8B-B14F-4D97-AF65-F5344CB8AC3E}">
        <p14:creationId xmlns:p14="http://schemas.microsoft.com/office/powerpoint/2010/main" val="871903996"/>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728005-1F95-4907-9688-DC5471EFDAC3}"/>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laptop demonstration</a:t>
            </a:r>
          </a:p>
        </p:txBody>
      </p:sp>
      <p:sp>
        <p:nvSpPr>
          <p:cNvPr id="2" name="">
            <a:extLst xmlns:a="http://schemas.openxmlformats.org/drawingml/2006/main">
              <a:ext uri="{FF2B5EF4-FFF2-40B4-BE49-F238E27FC236}">
                <a16:creationId xmlns:a16="http://schemas.microsoft.com/office/drawing/2014/main" id="{BAAFAF8E-B2C8-4E29-A06A-03A070B44877}"/>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F606D034-97BA-4672-938C-D29DC881F4EF}"/>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93FC0BB7-BA77-47E7-8980-0057F27A14B1}"/>
              </a:ext>
            </a:extLst>
          </p:cNvPr>
          <p:cNvSpPr>
            <a:spLocks xmlns:a="http://schemas.openxmlformats.org/drawingml/2006/main" noGrp="1"/>
          </p:cNvSpPr>
          <p:nvPr/>
        </p:nvSpPr>
        <p:spPr>
          <a:xfrm xmlns:a="http://schemas.openxmlformats.org/drawingml/2006/main">
            <a:off x="704850" y="13620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86224"/>
                </a:solidFill>
                <a:latin typeface="Arial"/>
                <a:ea typeface="Arial"/>
                <a:cs typeface="Arial"/>
              </a:defRPr>
            </a:pPr>
            <a:r>
              <a:rPr sz="1875" b="1">
                <a:solidFill>
                  <a:srgbClr val="986224"/>
                </a:solidFill>
                <a:latin typeface="Arial"/>
                <a:ea typeface="Arial"/>
                <a:cs typeface="Arial"/>
              </a:rPr>
              <a:t>Acceptance scenario · latest rehearsal incomplete</a:t>
            </a:r>
          </a:p>
        </p:txBody>
      </p:sp>
      <p:sp>
        <p:nvSpPr>
          <p:cNvPr id="5" name="">
            <a:extLst xmlns:a="http://schemas.openxmlformats.org/drawingml/2006/main">
              <a:ext uri="{FF2B5EF4-FFF2-40B4-BE49-F238E27FC236}">
                <a16:creationId xmlns:a16="http://schemas.microsoft.com/office/drawing/2014/main" id="{C7AB5733-4B40-497C-8893-2A1076AC056B}"/>
              </a:ext>
            </a:extLst>
          </p:cNvPr>
          <p:cNvSpPr>
            <a:spLocks xmlns:a="http://schemas.openxmlformats.org/drawingml/2006/main" noGrp="1"/>
          </p:cNvSpPr>
          <p:nvPr/>
        </p:nvSpPr>
        <p:spPr>
          <a:xfrm xmlns:a="http://schemas.openxmlformats.org/drawingml/2006/main">
            <a:off x="704850" y="21240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CUSTOMER TAB</a:t>
            </a:r>
          </a:p>
        </p:txBody>
      </p:sp>
      <p:sp>
        <p:nvSpPr>
          <p:cNvPr id="6" name="">
            <a:extLst xmlns:a="http://schemas.openxmlformats.org/drawingml/2006/main">
              <a:ext uri="{FF2B5EF4-FFF2-40B4-BE49-F238E27FC236}">
                <a16:creationId xmlns:a16="http://schemas.microsoft.com/office/drawing/2014/main" id="{E89161F1-BF98-41F9-A41B-B07E6D3FA369}"/>
              </a:ext>
            </a:extLst>
          </p:cNvPr>
          <p:cNvSpPr>
            <a:spLocks xmlns:a="http://schemas.openxmlformats.org/drawingml/2006/main" noGrp="1"/>
          </p:cNvSpPr>
          <p:nvPr/>
        </p:nvSpPr>
        <p:spPr>
          <a:xfrm xmlns:a="http://schemas.openxmlformats.org/drawingml/2006/main">
            <a:off x="704850" y="2638425"/>
            <a:ext cx="544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 want to go to a hospital.”</a:t>
            </a:r>
          </a:p>
        </p:txBody>
      </p:sp>
      <p:sp>
        <p:nvSpPr>
          <p:cNvPr id="7" name="">
            <a:extLst xmlns:a="http://schemas.openxmlformats.org/drawingml/2006/main">
              <a:ext uri="{FF2B5EF4-FFF2-40B4-BE49-F238E27FC236}">
                <a16:creationId xmlns:a16="http://schemas.microsoft.com/office/drawing/2014/main" id="{FE968D87-F04C-43E2-912E-3E519B7055C7}"/>
              </a:ext>
            </a:extLst>
          </p:cNvPr>
          <p:cNvSpPr>
            <a:spLocks xmlns:a="http://schemas.openxmlformats.org/drawingml/2006/main" noGrp="1"/>
          </p:cNvSpPr>
          <p:nvPr/>
        </p:nvSpPr>
        <p:spPr>
          <a:xfrm xmlns:a="http://schemas.openxmlformats.org/drawingml/2006/main">
            <a:off x="704850" y="3467100"/>
            <a:ext cx="53816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Answer the AI’s questions.</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Review the plan and authorize.</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Reply to unknown details in chat.</a:t>
            </a:r>
          </a:p>
        </p:txBody>
      </p:sp>
      <p:sp>
        <p:nvSpPr>
          <p:cNvPr id="8" name="">
            <a:extLst xmlns:a="http://schemas.openxmlformats.org/drawingml/2006/main">
              <a:ext uri="{FF2B5EF4-FFF2-40B4-BE49-F238E27FC236}">
                <a16:creationId xmlns:a16="http://schemas.microsoft.com/office/drawing/2014/main" id="{FF478F56-E70A-4CD6-B219-EE30D8039D14}"/>
              </a:ext>
            </a:extLst>
          </p:cNvPr>
          <p:cNvSpPr>
            <a:spLocks xmlns:a="http://schemas.openxmlformats.org/drawingml/2006/main" noGrp="1"/>
          </p:cNvSpPr>
          <p:nvPr/>
        </p:nvSpPr>
        <p:spPr>
          <a:xfrm xmlns:a="http://schemas.openxmlformats.org/drawingml/2006/main">
            <a:off x="6800850" y="2124075"/>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BUSINESS TAB</a:t>
            </a:r>
          </a:p>
        </p:txBody>
      </p:sp>
      <p:sp>
        <p:nvSpPr>
          <p:cNvPr id="9" name="">
            <a:extLst xmlns:a="http://schemas.openxmlformats.org/drawingml/2006/main">
              <a:ext uri="{FF2B5EF4-FFF2-40B4-BE49-F238E27FC236}">
                <a16:creationId xmlns:a16="http://schemas.microsoft.com/office/drawing/2014/main" id="{D40353E8-76F9-46E8-9A4C-41F3B5C955B5}"/>
              </a:ext>
            </a:extLst>
          </p:cNvPr>
          <p:cNvSpPr>
            <a:spLocks xmlns:a="http://schemas.openxmlformats.org/drawingml/2006/main" noGrp="1"/>
          </p:cNvSpPr>
          <p:nvPr/>
        </p:nvSpPr>
        <p:spPr>
          <a:xfrm xmlns:a="http://schemas.openxmlformats.org/drawingml/2006/main">
            <a:off x="6800850" y="2638425"/>
            <a:ext cx="468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Inactive until authorized</a:t>
            </a:r>
          </a:p>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and accepted</a:t>
            </a:r>
          </a:p>
        </p:txBody>
      </p:sp>
      <p:sp>
        <p:nvSpPr>
          <p:cNvPr id="10" name="">
            <a:extLst xmlns:a="http://schemas.openxmlformats.org/drawingml/2006/main">
              <a:ext uri="{FF2B5EF4-FFF2-40B4-BE49-F238E27FC236}">
                <a16:creationId xmlns:a16="http://schemas.microsoft.com/office/drawing/2014/main" id="{6CB250AB-1F60-4034-A572-9AD644AC2213}"/>
              </a:ext>
            </a:extLst>
          </p:cNvPr>
          <p:cNvSpPr>
            <a:spLocks xmlns:a="http://schemas.openxmlformats.org/drawingml/2006/main" noGrp="1"/>
          </p:cNvSpPr>
          <p:nvPr/>
        </p:nvSpPr>
        <p:spPr>
          <a:xfrm xmlns:a="http://schemas.openxmlformats.org/drawingml/2006/main">
            <a:off x="6800850" y="3686175"/>
            <a:ext cx="4686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The teammate accepts the call.</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Speak Korean through the laptop’s</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microphone and speaker.</a:t>
            </a:r>
          </a:p>
        </p:txBody>
      </p:sp>
      <p:sp>
        <p:nvSpPr>
          <p:cNvPr id="11" name="">
            <a:extLst xmlns:a="http://schemas.openxmlformats.org/drawingml/2006/main">
              <a:ext uri="{FF2B5EF4-FFF2-40B4-BE49-F238E27FC236}">
                <a16:creationId xmlns:a16="http://schemas.microsoft.com/office/drawing/2014/main" id="{A3465E71-C355-4637-8F5A-5AC9FB7493F5}"/>
              </a:ext>
            </a:extLst>
          </p:cNvPr>
          <p:cNvSpPr>
            <a:spLocks xmlns:a="http://schemas.openxmlformats.org/drawingml/2006/main" noGrp="1"/>
          </p:cNvSpPr>
          <p:nvPr/>
        </p:nvSpPr>
        <p:spPr>
          <a:xfrm xmlns:a="http://schemas.openxmlformats.org/drawingml/2006/main">
            <a:off x="704850" y="5172075"/>
            <a:ext cx="10753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teammate asks a detail the interview has not covered.</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AI asks the customer, waits, and relays the answer in Korean.</a:t>
            </a:r>
          </a:p>
        </p:txBody>
      </p:sp>
      <p:sp>
        <p:nvSpPr>
          <p:cNvPr id="12" name="">
            <a:extLst xmlns:a="http://schemas.openxmlformats.org/drawingml/2006/main">
              <a:ext uri="{FF2B5EF4-FFF2-40B4-BE49-F238E27FC236}">
                <a16:creationId xmlns:a16="http://schemas.microsoft.com/office/drawing/2014/main" id="{7BA9D32D-4DDB-4EFF-93D8-24020444ECFD}"/>
              </a:ext>
            </a:extLst>
          </p:cNvPr>
          <p:cNvSpPr>
            <a:spLocks xmlns:a="http://schemas.openxmlformats.org/drawingml/2006/main" noGrp="1"/>
          </p:cNvSpPr>
          <p:nvPr/>
        </p:nvSpPr>
        <p:spPr>
          <a:xfrm xmlns:a="http://schemas.openxmlformats.org/drawingml/2006/main">
            <a:off x="704850" y="5943600"/>
            <a:ext cx="1075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Completion requires every required answer and a confirmed readback.</a:t>
            </a:r>
          </a:p>
        </p:txBody>
      </p:sp>
    </p:spTree>
    <p:extLst>
      <p:ext uri="{BB962C8B-B14F-4D97-AF65-F5344CB8AC3E}">
        <p14:creationId xmlns:p14="http://schemas.microsoft.com/office/powerpoint/2010/main" val="105122681"/>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D6E00D-31BF-479D-B56F-81AB9A9CA8A0}"/>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Codex work and verification</a:t>
            </a:r>
          </a:p>
        </p:txBody>
      </p:sp>
      <p:sp>
        <p:nvSpPr>
          <p:cNvPr id="2" name="">
            <a:extLst xmlns:a="http://schemas.openxmlformats.org/drawingml/2006/main">
              <a:ext uri="{FF2B5EF4-FFF2-40B4-BE49-F238E27FC236}">
                <a16:creationId xmlns:a16="http://schemas.microsoft.com/office/drawing/2014/main" id="{1E899E29-4481-44A5-86D2-12B5647BFB5C}"/>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D164E1C7-3165-4E67-A71E-5C3E8DE1E4BE}"/>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A6215D9B-796F-4CF0-BD27-A7573280AFEC}"/>
              </a:ext>
            </a:extLst>
          </p:cNvPr>
          <p:cNvSpPr>
            <a:spLocks xmlns:a="http://schemas.openxmlformats.org/drawingml/2006/main" noGrp="1"/>
          </p:cNvSpPr>
          <p:nvPr/>
        </p:nvSpPr>
        <p:spPr>
          <a:xfrm xmlns:a="http://schemas.openxmlformats.org/drawingml/2006/main">
            <a:off x="704850" y="14954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B5147"/>
                </a:solidFill>
                <a:latin typeface="Arial"/>
                <a:ea typeface="Arial"/>
                <a:cs typeface="Arial"/>
              </a:defRPr>
            </a:pPr>
            <a:r>
              <a:rPr sz="2250" b="1">
                <a:solidFill>
                  <a:srgbClr val="1B5147"/>
                </a:solidFill>
                <a:latin typeface="Arial"/>
                <a:ea typeface="Arial"/>
                <a:cs typeface="Arial"/>
              </a:rPr>
              <a:t>Codex built the chat, call state, and test harnesses</a:t>
            </a:r>
          </a:p>
        </p:txBody>
      </p:sp>
      <p:sp>
        <p:nvSpPr>
          <p:cNvPr id="5" name="">
            <a:extLst xmlns:a="http://schemas.openxmlformats.org/drawingml/2006/main">
              <a:ext uri="{FF2B5EF4-FFF2-40B4-BE49-F238E27FC236}">
                <a16:creationId xmlns:a16="http://schemas.microsoft.com/office/drawing/2014/main" id="{0BA446E1-B1A0-4A00-A88B-975B23EA2112}"/>
              </a:ext>
            </a:extLst>
          </p:cNvPr>
          <p:cNvSpPr>
            <a:spLocks xmlns:a="http://schemas.openxmlformats.org/drawingml/2006/main" noGrp="1"/>
          </p:cNvSpPr>
          <p:nvPr/>
        </p:nvSpPr>
        <p:spPr>
          <a:xfrm xmlns:a="http://schemas.openxmlformats.org/drawingml/2006/main">
            <a:off x="704850" y="19526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57 code + 17 HTTP checks passed. Mocked browser checks:</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20 customer + 11 business checks passed.</a:t>
            </a:r>
          </a:p>
        </p:txBody>
      </p:sp>
      <p:sp>
        <p:nvSpPr>
          <p:cNvPr id="6" name="">
            <a:extLst xmlns:a="http://schemas.openxmlformats.org/drawingml/2006/main">
              <a:ext uri="{FF2B5EF4-FFF2-40B4-BE49-F238E27FC236}">
                <a16:creationId xmlns:a16="http://schemas.microsoft.com/office/drawing/2014/main" id="{705983EC-155A-403C-8306-0CDD0D619295}"/>
              </a:ext>
            </a:extLst>
          </p:cNvPr>
          <p:cNvSpPr>
            <a:spLocks xmlns:a="http://schemas.openxmlformats.org/drawingml/2006/main" noGrp="1"/>
          </p:cNvSpPr>
          <p:nvPr/>
        </p:nvSpPr>
        <p:spPr>
          <a:xfrm xmlns:a="http://schemas.openxmlformats.org/drawingml/2006/main">
            <a:off x="704850" y="272415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These checks do not establish real speech quality or user value.</a:t>
            </a:r>
          </a:p>
        </p:txBody>
      </p:sp>
      <p:sp>
        <p:nvSpPr>
          <p:cNvPr id="7" name="">
            <a:extLst xmlns:a="http://schemas.openxmlformats.org/drawingml/2006/main">
              <a:ext uri="{FF2B5EF4-FFF2-40B4-BE49-F238E27FC236}">
                <a16:creationId xmlns:a16="http://schemas.microsoft.com/office/drawing/2014/main" id="{E3F62FB0-1F62-4236-A53E-D232CB80A57F}"/>
              </a:ext>
            </a:extLst>
          </p:cNvPr>
          <p:cNvSpPr>
            <a:spLocks xmlns:a="http://schemas.openxmlformats.org/drawingml/2006/main" noGrp="1"/>
          </p:cNvSpPr>
          <p:nvPr/>
        </p:nvSpPr>
        <p:spPr>
          <a:xfrm xmlns:a="http://schemas.openxmlformats.org/drawingml/2006/main">
            <a:off x="704850" y="33242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Actual Korean speech: Partial</a:t>
            </a:r>
          </a:p>
        </p:txBody>
      </p:sp>
      <p:sp>
        <p:nvSpPr>
          <p:cNvPr id="8" name="">
            <a:extLst xmlns:a="http://schemas.openxmlformats.org/drawingml/2006/main">
              <a:ext uri="{FF2B5EF4-FFF2-40B4-BE49-F238E27FC236}">
                <a16:creationId xmlns:a16="http://schemas.microsoft.com/office/drawing/2014/main" id="{D1A2F8DF-D7E9-496A-B06C-2D47491E58E6}"/>
              </a:ext>
            </a:extLst>
          </p:cNvPr>
          <p:cNvSpPr>
            <a:spLocks xmlns:a="http://schemas.openxmlformats.org/drawingml/2006/main" noGrp="1"/>
          </p:cNvSpPr>
          <p:nvPr/>
        </p:nvSpPr>
        <p:spPr>
          <a:xfrm xmlns:a="http://schemas.openxmlformats.org/drawingml/2006/main">
            <a:off x="704850" y="38004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Four spoken answers and a Korean readback were captured.</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Confirmation reset the answers; the teammate ended the run.</a:t>
            </a:r>
          </a:p>
        </p:txBody>
      </p:sp>
      <p:sp>
        <p:nvSpPr>
          <p:cNvPr id="9" name="">
            <a:extLst xmlns:a="http://schemas.openxmlformats.org/drawingml/2006/main">
              <a:ext uri="{FF2B5EF4-FFF2-40B4-BE49-F238E27FC236}">
                <a16:creationId xmlns:a16="http://schemas.microsoft.com/office/drawing/2014/main" id="{874F917E-662B-48B9-A292-E787698B10F1}"/>
              </a:ext>
            </a:extLst>
          </p:cNvPr>
          <p:cNvSpPr>
            <a:spLocks xmlns:a="http://schemas.openxmlformats.org/drawingml/2006/main" noGrp="1"/>
          </p:cNvSpPr>
          <p:nvPr/>
        </p:nvSpPr>
        <p:spPr>
          <a:xfrm xmlns:a="http://schemas.openxmlformats.org/drawingml/2006/main">
            <a:off x="704850" y="50101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986224"/>
                </a:solidFill>
                <a:latin typeface="Arial"/>
                <a:ea typeface="Arial"/>
                <a:cs typeface="Arial"/>
              </a:defRPr>
            </a:pPr>
            <a:r>
              <a:rPr sz="2325" b="1">
                <a:solidFill>
                  <a:srgbClr val="986224"/>
                </a:solidFill>
                <a:latin typeface="Arial"/>
                <a:ea typeface="Arial"/>
                <a:cs typeface="Arial"/>
              </a:rPr>
              <a:t>Still unverified</a:t>
            </a:r>
          </a:p>
        </p:txBody>
      </p:sp>
      <p:sp>
        <p:nvSpPr>
          <p:cNvPr id="10" name="">
            <a:extLst xmlns:a="http://schemas.openxmlformats.org/drawingml/2006/main">
              <a:ext uri="{FF2B5EF4-FFF2-40B4-BE49-F238E27FC236}">
                <a16:creationId xmlns:a16="http://schemas.microsoft.com/office/drawing/2014/main" id="{6BD96BBF-52BB-4042-9856-527898F42E23}"/>
              </a:ext>
            </a:extLst>
          </p:cNvPr>
          <p:cNvSpPr>
            <a:spLocks xmlns:a="http://schemas.openxmlformats.org/drawingml/2006/main" noGrp="1"/>
          </p:cNvSpPr>
          <p:nvPr/>
        </p:nvSpPr>
        <p:spPr>
          <a:xfrm xmlns:a="http://schemas.openxmlformats.org/drawingml/2006/main">
            <a:off x="704850" y="5486400"/>
            <a:ext cx="10763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Live unknown-detail relay and normal completion: Unverified.</a:t>
            </a:r>
          </a:p>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Russian/Chinese interviews exercised; fidelity limits remain.</a:t>
            </a:r>
          </a:p>
        </p:txBody>
      </p:sp>
    </p:spTree>
    <p:extLst>
      <p:ext uri="{BB962C8B-B14F-4D97-AF65-F5344CB8AC3E}">
        <p14:creationId xmlns:p14="http://schemas.microsoft.com/office/powerpoint/2010/main" val="1759203769"/>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72884A-EAA1-479F-A796-D90AFA56487F}"/>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Value hypothesis and scope</a:t>
            </a:r>
          </a:p>
        </p:txBody>
      </p:sp>
      <p:sp>
        <p:nvSpPr>
          <p:cNvPr id="2" name="">
            <a:extLst xmlns:a="http://schemas.openxmlformats.org/drawingml/2006/main">
              <a:ext uri="{FF2B5EF4-FFF2-40B4-BE49-F238E27FC236}">
                <a16:creationId xmlns:a16="http://schemas.microsoft.com/office/drawing/2014/main" id="{B2EBA36D-EEDB-4662-B661-E0C90D5707B7}"/>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12F3F7E2-661F-431F-85B9-8825EF61E3B5}"/>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A78346E7-714F-4418-B730-5577D7CA7B81}"/>
              </a:ext>
            </a:extLst>
          </p:cNvPr>
          <p:cNvSpPr>
            <a:spLocks xmlns:a="http://schemas.openxmlformats.org/drawingml/2006/main" noGrp="1"/>
          </p:cNvSpPr>
          <p:nvPr/>
        </p:nvSpPr>
        <p:spPr>
          <a:xfrm xmlns:a="http://schemas.openxmlformats.org/drawingml/2006/main">
            <a:off x="704850" y="1704975"/>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Can a text conversation reduce the barrier</a:t>
            </a:r>
          </a:p>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to getting help from a Korean business?</a:t>
            </a:r>
          </a:p>
        </p:txBody>
      </p:sp>
      <p:sp>
        <p:nvSpPr>
          <p:cNvPr id="5" name="">
            <a:extLst xmlns:a="http://schemas.openxmlformats.org/drawingml/2006/main">
              <a:ext uri="{FF2B5EF4-FFF2-40B4-BE49-F238E27FC236}">
                <a16:creationId xmlns:a16="http://schemas.microsoft.com/office/drawing/2014/main" id="{5FBEC121-3FDC-4DCE-9CDE-6449E54DBF35}"/>
              </a:ext>
            </a:extLst>
          </p:cNvPr>
          <p:cNvSpPr>
            <a:spLocks xmlns:a="http://schemas.openxmlformats.org/drawingml/2006/main" noGrp="1"/>
          </p:cNvSpPr>
          <p:nvPr/>
        </p:nvSpPr>
        <p:spPr>
          <a:xfrm xmlns:a="http://schemas.openxmlformats.org/drawingml/2006/main">
            <a:off x="704850" y="34004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986224"/>
                </a:solidFill>
                <a:latin typeface="Arial"/>
                <a:ea typeface="Arial"/>
                <a:cs typeface="Arial"/>
              </a:defRPr>
            </a:pPr>
            <a:r>
              <a:rPr sz="3225" b="1">
                <a:solidFill>
                  <a:srgbClr val="986224"/>
                </a:solidFill>
                <a:latin typeface="Arial"/>
                <a:ea typeface="Arial"/>
                <a:cs typeface="Arial"/>
              </a:rPr>
              <a:t>User value: Unverified</a:t>
            </a:r>
          </a:p>
        </p:txBody>
      </p:sp>
      <p:sp>
        <p:nvSpPr>
          <p:cNvPr id="6" name="">
            <a:extLst xmlns:a="http://schemas.openxmlformats.org/drawingml/2006/main">
              <a:ext uri="{FF2B5EF4-FFF2-40B4-BE49-F238E27FC236}">
                <a16:creationId xmlns:a16="http://schemas.microsoft.com/office/drawing/2014/main" id="{8D93B7C2-8759-4E07-8E6F-D3758A8E064B}"/>
              </a:ext>
            </a:extLst>
          </p:cNvPr>
          <p:cNvSpPr>
            <a:spLocks xmlns:a="http://schemas.openxmlformats.org/drawingml/2006/main" noGrp="1"/>
          </p:cNvSpPr>
          <p:nvPr/>
        </p:nvSpPr>
        <p:spPr>
          <a:xfrm xmlns:a="http://schemas.openxmlformats.org/drawingml/2006/main">
            <a:off x="704850" y="40767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No feedback from actual target users has been collected.</a:t>
            </a:r>
          </a:p>
        </p:txBody>
      </p:sp>
      <p:sp>
        <p:nvSpPr>
          <p:cNvPr id="7" name="">
            <a:extLst xmlns:a="http://schemas.openxmlformats.org/drawingml/2006/main">
              <a:ext uri="{FF2B5EF4-FFF2-40B4-BE49-F238E27FC236}">
                <a16:creationId xmlns:a16="http://schemas.microsoft.com/office/drawing/2014/main" id="{9E9A3261-8244-4344-8212-8F812E60EFC4}"/>
              </a:ext>
            </a:extLst>
          </p:cNvPr>
          <p:cNvSpPr>
            <a:spLocks xmlns:a="http://schemas.openxmlformats.org/drawingml/2006/main" noGrp="1"/>
          </p:cNvSpPr>
          <p:nvPr/>
        </p:nvSpPr>
        <p:spPr>
          <a:xfrm xmlns:a="http://schemas.openxmlformats.org/drawingml/2006/main">
            <a:off x="704850" y="4953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Today’s scope</a:t>
            </a:r>
          </a:p>
        </p:txBody>
      </p:sp>
      <p:sp>
        <p:nvSpPr>
          <p:cNvPr id="8" name="">
            <a:extLst xmlns:a="http://schemas.openxmlformats.org/drawingml/2006/main">
              <a:ext uri="{FF2B5EF4-FFF2-40B4-BE49-F238E27FC236}">
                <a16:creationId xmlns:a16="http://schemas.microsoft.com/office/drawing/2014/main" id="{6A99D211-A7C3-40C3-8833-FDD61A0CC51A}"/>
              </a:ext>
            </a:extLst>
          </p:cNvPr>
          <p:cNvSpPr>
            <a:spLocks xmlns:a="http://schemas.openxmlformats.org/drawingml/2006/main" noGrp="1"/>
          </p:cNvSpPr>
          <p:nvPr/>
        </p:nvSpPr>
        <p:spPr>
          <a:xfrm xmlns:a="http://schemas.openxmlformats.org/drawingml/2006/main">
            <a:off x="704850" y="5429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Fictional institutions. Simulated calls in two laptop tabs.</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No real calls, real discovery, or reception/doctor sheets.</a:t>
            </a:r>
          </a:p>
        </p:txBody>
      </p:sp>
    </p:spTree>
    <p:extLst>
      <p:ext uri="{BB962C8B-B14F-4D97-AF65-F5344CB8AC3E}">
        <p14:creationId xmlns:p14="http://schemas.microsoft.com/office/powerpoint/2010/main" val="13283628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2026-09-29T05:48:20.4310000Z</dcterms:created>
  <dcterms:modified xsi:type="dcterms:W3CDTF">2026-09-29T05:48:20.4310000Z</dcterms:modified>
</coreProperties>
</file>