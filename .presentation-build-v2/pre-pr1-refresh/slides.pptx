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2ee77048964dad" /><Relationship Type="http://schemas.openxmlformats.org/officeDocument/2006/relationships/extended-properties" Target="/docProps/app.xml" Id="Re628a6aaf1484838" /><Relationship Type="http://schemas.openxmlformats.org/officeDocument/2006/relationships/officeDocument" Target="/ppt/presentation.xml" Id="Rbaae68defb364b33" /></Relationships>
</file>

<file path=ppt/presentation.xml><?xml version="1.0" encoding="utf-8"?>
<p:presentation xmlns:p="http://schemas.openxmlformats.org/presentationml/2006/main">
  <p:sldMasterIdLst>
    <p:sldMasterId xmlns:r="http://schemas.openxmlformats.org/officeDocument/2006/relationships" id="2147483648" r:id="R8d4f54d3bd1a429c"/>
  </p:sldMasterIdLst>
  <p:notesMasterIdLst>
    <p:notesMasterId xmlns:r="http://schemas.openxmlformats.org/officeDocument/2006/relationships" r:id="R24760e2fa7f94644"/>
  </p:notesMasterIdLst>
  <p:sldIdLst>
    <p:sldId xmlns:r="http://schemas.openxmlformats.org/officeDocument/2006/relationships" id="256" r:id="R815042900d0640e7"/>
    <p:sldId xmlns:r="http://schemas.openxmlformats.org/officeDocument/2006/relationships" id="257" r:id="Rfbf422c315bb456c"/>
    <p:sldId xmlns:r="http://schemas.openxmlformats.org/officeDocument/2006/relationships" id="258" r:id="Rcc4873ec3d894ce3"/>
    <p:sldId xmlns:r="http://schemas.openxmlformats.org/officeDocument/2006/relationships" id="259" r:id="Rf433d52a9ee74507"/>
    <p:sldId xmlns:r="http://schemas.openxmlformats.org/officeDocument/2006/relationships" id="260" r:id="R47995446ee1040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afd454fa244350" /><Relationship Type="http://schemas.openxmlformats.org/officeDocument/2006/relationships/slideMaster" Target="/ppt/slideMasters/slideMaster1.xml" Id="R8d4f54d3bd1a429c" /><Relationship Type="http://schemas.openxmlformats.org/officeDocument/2006/relationships/notesMaster" Target="/ppt/notesMasters/notesMaster1.xml" Id="R24760e2fa7f94644" /><Relationship Type="http://schemas.openxmlformats.org/officeDocument/2006/relationships/presProps" Target="/ppt/presProps.xml" Id="R6d59d3a62a1d45b9" /><Relationship Type="http://schemas.openxmlformats.org/officeDocument/2006/relationships/tableStyles" Target="/ppt/tableStyles.xml" Id="R5ddd9127e0de48e4" /><Relationship Type="http://schemas.openxmlformats.org/officeDocument/2006/relationships/slide" Target="/ppt/slides/slide1.xml" Id="R815042900d0640e7" /><Relationship Type="http://schemas.openxmlformats.org/officeDocument/2006/relationships/slide" Target="/ppt/slides/slide2.xml" Id="Rfbf422c315bb456c" /><Relationship Type="http://schemas.openxmlformats.org/officeDocument/2006/relationships/slide" Target="/ppt/slides/slide3.xml" Id="Rcc4873ec3d894ce3" /><Relationship Type="http://schemas.openxmlformats.org/officeDocument/2006/relationships/slide" Target="/ppt/slides/slide4.xml" Id="Rf433d52a9ee74507" /><Relationship Type="http://schemas.openxmlformats.org/officeDocument/2006/relationships/slide" Target="/ppt/slides/slide5.xml" Id="R47995446ee1040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a2a15f139e4a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9b2038b7104456" /><Relationship Type="http://schemas.openxmlformats.org/officeDocument/2006/relationships/notesMaster" Target="/ppt/notesMasters/notesMaster1.xml" Id="R153e0cb00edd41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4e04f0cdba465b" /><Relationship Type="http://schemas.openxmlformats.org/officeDocument/2006/relationships/notesMaster" Target="/ppt/notesMasters/notesMaster1.xml" Id="Raae92d50f44547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f8a00457134280" /><Relationship Type="http://schemas.openxmlformats.org/officeDocument/2006/relationships/notesMaster" Target="/ppt/notesMasters/notesMaster1.xml" Id="Rd23b6a697a3647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1f65e3498f4ce9" /><Relationship Type="http://schemas.openxmlformats.org/officeDocument/2006/relationships/notesMaster" Target="/ppt/notesMasters/notesMaster1.xml" Id="R51d1b5e125b844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add721092c4bf6" /><Relationship Type="http://schemas.openxmlformats.org/officeDocument/2006/relationships/notesMaster" Target="/ppt/notesMasters/notesMaster1.xml" Id="R79d63d5455414c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0:00–0:25. Explain the intended users and problem. This is a product hypothesis, not a claim of validated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0:25–0:55. Show the clean chat interface and language selection. The interview, institutions and required questions come from the model. These are intended runtime steps; the current verification status is on slide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0:55–2:00. The current shop example requests a navy waterproof daypack of about 20 litres, any brand, in Mapo for evening pickup. A bounded real API interview prepared stock, price and closing/pickup questions; six provider responses, two customer turns. The price question says available before stock is confirmed, a disclosed wording limitation. No stock, price or hours are established. The actual shop room accepted at 15:12:16 KST and received the full Korean opening and stock question. The operator ended at 15:15:45 after unsupported stock/price classification and a microphone stall. Human audibility is not confirmed. Source: artifacts/v2/live-shop-first-attempt.json. Ask conditionally whether black would be acceptable; never assume the preference. Source: artifacts/v2/live-shop-plan-check.json; docs/v2-shop-demo.md. Open a separate business tab on the same laptop. It must remain inactive before customer authorization. Accept only when incoming. Use fictional customer details and business answers. Choose an unknown customer detail based on the actual interview, rather than assuming prior-visit status is unknown. The third actual rehearsal captured four business answers and a readback, but confirmation reset the answers and the teammate disconnected. Unknown-detail relay and a normal completed call remain unverified. Demonstrate these steps only if a new real run actually reaches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2:00–2:30. The current code checkpoint has 63 local tests (31 state, 17 guard, 15 legacy), 23 actual local HTTP checks with synthetic setup plans and upstream network blocked, 20 mocked customer browser checks, and 14 mocked business browser checks. These are different evidence classes. The third real laptop microphone run captured four actual Korean business answers and an assistant readback, including qualified cost uncertainty. Business confirmation incorrectly reset the resolved state; the human disconnected. Korean audibility was human-confirmed in the first attempt only. Unknown-detail relay was not exercised in the third attempt. Later readback and startup fixes require another live rehearsal. Startup now waits for session.created, a remote track and connection registration, sends one tool-free opening, and pauses the microphone through completed playback and playback permission; missing opening audio fails after 12 seconds. The new shop opening audio started at 15:12:19.502 and its full greeting/stock-question transcript was captured, but human audibility is not confirmed. Only a business greeting and apology were transcribed. The review incorrectly classified those as negative stock and unavailable price; that unsupported state also entered the summary. Consecutive responses left the microphone paused; the operator ended at 15:15:45. Repairs are pending, and no live relay or normal completion is claimed. Source: artifacts/v2/live-shop-first-attempt.json. A separate recorded-text summary regression passed 9/9 using one real structured recommendation request. The AI chose an allowed action and existing answer references; rendering preserved the original interrupted outcome and qualified price, without new microphone or audio evidence. Source: artifacts/v2/recorded-third-typed-summary-check.json. Real Russian and Chinese interviews were exercised, but Korean question fidelity and unsupported first-visit wording remain limited. Sources: artifacts/v2/live-native-rehearsal-third-attempt.json; artifacts/v2/live-native-third-attempt-audit.json; artifacts/v2/customer-ui-check.json; docs/v2-verification.md. These local evidence files are not raw material for the official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2:30–3:00. Show the resulting summary and recommendation only if a real conversation has produced them. Explain unresolved information and testing limits. Describe the representative Codex contribution: dynamic state and authorization checks, language coverage, and explicit synthetic-vs-live evidence. Do not claim target-user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9fd3a38c8444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ceb77bab814c56" /><Relationship Type="http://schemas.openxmlformats.org/officeDocument/2006/relationships/slideLayout" Target="/ppt/slideLayouts/slideLayout1.xml" Id="R0bf819929ebf4c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f819929ebf4c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3623679a2d4f88" /><Relationship Type="http://schemas.openxmlformats.org/officeDocument/2006/relationships/notesSlide" Target="/ppt/notesSlides/notesSlide1.xml" Id="R9cf03b0ed1b744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3d88f33a2c45de" /><Relationship Type="http://schemas.openxmlformats.org/officeDocument/2006/relationships/notesSlide" Target="/ppt/notesSlides/notesSlide2.xml" Id="Rb16279a00b3d49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b5ed551f9b480e" /><Relationship Type="http://schemas.openxmlformats.org/officeDocument/2006/relationships/notesSlide" Target="/ppt/notesSlides/notesSlide3.xml" Id="Rab194f725c9e41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67aa58abb841fd" /><Relationship Type="http://schemas.openxmlformats.org/officeDocument/2006/relationships/notesSlide" Target="/ppt/notesSlides/notesSlide4.xml" Id="R7efc695e36f144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94dc1e63804e40" /><Relationship Type="http://schemas.openxmlformats.org/officeDocument/2006/relationships/notesSlide" Target="/ppt/notesSlides/notesSlide5.xml" Id="R8fb581ef16744004" /></Relationships>
</file>

<file path=ppt/slides/slide1.xml><?xml version="1.0" encoding="utf-8"?>
<p:sld xmlns:p="http://schemas.openxmlformats.org/presentationml/2006/main">
  <p:cSld>
    <p:bg>
      <p:bgPr>
        <a:solidFill xmlns:a="http://schemas.openxmlformats.org/drawingml/2006/main">
          <a:srgbClr val="1B51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74A44B-6DF7-421C-B82A-AC85DE8549CE}"/>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YOKOBU v2 · Fictional institutions · Simulated calls only</a:t>
            </a:r>
          </a:p>
        </p:txBody>
      </p:sp>
      <p:sp>
        <p:nvSpPr>
          <p:cNvPr id="2" name="">
            <a:extLst xmlns:a="http://schemas.openxmlformats.org/drawingml/2006/main">
              <a:ext uri="{FF2B5EF4-FFF2-40B4-BE49-F238E27FC236}">
                <a16:creationId xmlns:a16="http://schemas.microsoft.com/office/drawing/2014/main" id="{223343EA-E8FC-4E60-931E-BBF99F3CE7F5}"/>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0942959A-0236-49C1-8318-653FF18C98BB}"/>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a:solidFill>
                  <a:srgbClr val="E4F4A2"/>
                </a:solidFill>
                <a:latin typeface="Arial"/>
                <a:ea typeface="Arial"/>
                <a:cs typeface="Arial"/>
              </a:defRPr>
            </a:pPr>
            <a:r>
              <a:rPr sz="6300" b="1">
                <a:solidFill>
                  <a:srgbClr val="E4F4A2"/>
                </a:solidFill>
                <a:latin typeface="Arial"/>
                <a:ea typeface="Arial"/>
                <a:cs typeface="Arial"/>
              </a:rPr>
              <a:t>YOKOBU</a:t>
            </a:r>
          </a:p>
        </p:txBody>
      </p:sp>
      <p:sp>
        <p:nvSpPr>
          <p:cNvPr id="4" name="">
            <a:extLst xmlns:a="http://schemas.openxmlformats.org/drawingml/2006/main">
              <a:ext uri="{FF2B5EF4-FFF2-40B4-BE49-F238E27FC236}">
                <a16:creationId xmlns:a16="http://schemas.microsoft.com/office/drawing/2014/main" id="{F50FF05C-4142-4673-A4A1-21B418DD852A}"/>
              </a:ext>
            </a:extLst>
          </p:cNvPr>
          <p:cNvSpPr>
            <a:spLocks xmlns:a="http://schemas.openxmlformats.org/drawingml/2006/main" noGrp="1"/>
          </p:cNvSpPr>
          <p:nvPr/>
        </p:nvSpPr>
        <p:spPr>
          <a:xfrm xmlns:a="http://schemas.openxmlformats.org/drawingml/2006/main">
            <a:off x="685800" y="1990725"/>
            <a:ext cx="10820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text interface for</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Korean business conversations</a:t>
            </a:r>
          </a:p>
        </p:txBody>
      </p:sp>
      <p:sp>
        <p:nvSpPr>
          <p:cNvPr id="5" name="">
            <a:extLst xmlns:a="http://schemas.openxmlformats.org/drawingml/2006/main">
              <a:ext uri="{FF2B5EF4-FFF2-40B4-BE49-F238E27FC236}">
                <a16:creationId xmlns:a16="http://schemas.microsoft.com/office/drawing/2014/main" id="{A080D3EF-1AAB-4B39-B440-0758D5BE1BD5}"/>
              </a:ext>
            </a:extLst>
          </p:cNvPr>
          <p:cNvSpPr>
            <a:spLocks xmlns:a="http://schemas.openxmlformats.org/drawingml/2006/main" noGrp="1"/>
          </p:cNvSpPr>
          <p:nvPr/>
        </p:nvSpPr>
        <p:spPr>
          <a:xfrm xmlns:a="http://schemas.openxmlformats.org/drawingml/2006/main">
            <a:off x="723900" y="39433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For expats, tourists, and deaf or hard-of-hearing</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users in Korea who need information or help.</a:t>
            </a:r>
          </a:p>
        </p:txBody>
      </p:sp>
      <p:sp>
        <p:nvSpPr>
          <p:cNvPr id="6" name="">
            <a:extLst xmlns:a="http://schemas.openxmlformats.org/drawingml/2006/main">
              <a:ext uri="{FF2B5EF4-FFF2-40B4-BE49-F238E27FC236}">
                <a16:creationId xmlns:a16="http://schemas.microsoft.com/office/drawing/2014/main" id="{094F947F-A174-4275-B395-DF12208C775D}"/>
              </a:ext>
            </a:extLst>
          </p:cNvPr>
          <p:cNvSpPr>
            <a:spLocks xmlns:a="http://schemas.openxmlformats.org/drawingml/2006/main" noGrp="1"/>
          </p:cNvSpPr>
          <p:nvPr/>
        </p:nvSpPr>
        <p:spPr>
          <a:xfrm xmlns:a="http://schemas.openxmlformats.org/drawingml/2006/main">
            <a:off x="723900" y="52197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Language and accessibility barriers can prevent people</a:t>
            </a:r>
          </a:p>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from getting the information they need by phone.</a:t>
            </a:r>
          </a:p>
        </p:txBody>
      </p:sp>
    </p:spTree>
    <p:extLst>
      <p:ext uri="{BB962C8B-B14F-4D97-AF65-F5344CB8AC3E}">
        <p14:creationId xmlns:p14="http://schemas.microsoft.com/office/powerpoint/2010/main" val="278343163"/>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5798F62-BC4A-4D43-9854-25D04D0C2BBC}"/>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customer experience</a:t>
            </a:r>
          </a:p>
        </p:txBody>
      </p:sp>
      <p:sp>
        <p:nvSpPr>
          <p:cNvPr id="2" name="">
            <a:extLst xmlns:a="http://schemas.openxmlformats.org/drawingml/2006/main">
              <a:ext uri="{FF2B5EF4-FFF2-40B4-BE49-F238E27FC236}">
                <a16:creationId xmlns:a16="http://schemas.microsoft.com/office/drawing/2014/main" id="{19E2B18B-A536-4C28-9812-8E2B21320DA2}"/>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92E82C12-4129-4431-A9E8-C738F5A72C1D}"/>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269B045A-979E-4AE6-A0F8-674D21D005DE}"/>
              </a:ext>
            </a:extLst>
          </p:cNvPr>
          <p:cNvSpPr>
            <a:spLocks xmlns:a="http://schemas.openxmlformats.org/drawingml/2006/main" noGrp="1"/>
          </p:cNvSpPr>
          <p:nvPr/>
        </p:nvSpPr>
        <p:spPr>
          <a:xfrm xmlns:a="http://schemas.openxmlformats.org/drawingml/2006/main">
            <a:off x="704850" y="15906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63763D3-10FE-4D8E-95C5-3FB632B2D60A}"/>
              </a:ext>
            </a:extLst>
          </p:cNvPr>
          <p:cNvSpPr>
            <a:spLocks xmlns:a="http://schemas.openxmlformats.org/drawingml/2006/main" noGrp="1"/>
          </p:cNvSpPr>
          <p:nvPr/>
        </p:nvSpPr>
        <p:spPr>
          <a:xfrm xmlns:a="http://schemas.openxmlformats.org/drawingml/2006/main">
            <a:off x="1647825" y="15906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Describe a need</a:t>
            </a:r>
          </a:p>
        </p:txBody>
      </p:sp>
      <p:sp>
        <p:nvSpPr>
          <p:cNvPr id="6" name="">
            <a:extLst xmlns:a="http://schemas.openxmlformats.org/drawingml/2006/main">
              <a:ext uri="{FF2B5EF4-FFF2-40B4-BE49-F238E27FC236}">
                <a16:creationId xmlns:a16="http://schemas.microsoft.com/office/drawing/2014/main" id="{5B9EE51B-FD72-4F7A-8C21-0833075C421D}"/>
              </a:ext>
            </a:extLst>
          </p:cNvPr>
          <p:cNvSpPr>
            <a:spLocks xmlns:a="http://schemas.openxmlformats.org/drawingml/2006/main" noGrp="1"/>
          </p:cNvSpPr>
          <p:nvPr/>
        </p:nvSpPr>
        <p:spPr>
          <a:xfrm xmlns:a="http://schemas.openxmlformats.org/drawingml/2006/main">
            <a:off x="1666875" y="20097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English by default, with Russian and Chinese options.</a:t>
            </a:r>
          </a:p>
        </p:txBody>
      </p:sp>
      <p:sp>
        <p:nvSpPr>
          <p:cNvPr id="7" name="">
            <a:extLst xmlns:a="http://schemas.openxmlformats.org/drawingml/2006/main">
              <a:ext uri="{FF2B5EF4-FFF2-40B4-BE49-F238E27FC236}">
                <a16:creationId xmlns:a16="http://schemas.microsoft.com/office/drawing/2014/main" id="{BD059D19-DFFA-4074-90D3-8D276647072A}"/>
              </a:ext>
            </a:extLst>
          </p:cNvPr>
          <p:cNvSpPr>
            <a:spLocks xmlns:a="http://schemas.openxmlformats.org/drawingml/2006/main" noGrp="1"/>
          </p:cNvSpPr>
          <p:nvPr/>
        </p:nvSpPr>
        <p:spPr>
          <a:xfrm xmlns:a="http://schemas.openxmlformats.org/drawingml/2006/main">
            <a:off x="704850" y="24765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7A3F425-5704-41FE-822B-1140330EEA9C}"/>
              </a:ext>
            </a:extLst>
          </p:cNvPr>
          <p:cNvSpPr>
            <a:spLocks xmlns:a="http://schemas.openxmlformats.org/drawingml/2006/main" noGrp="1"/>
          </p:cNvSpPr>
          <p:nvPr/>
        </p:nvSpPr>
        <p:spPr>
          <a:xfrm xmlns:a="http://schemas.openxmlformats.org/drawingml/2006/main">
            <a:off x="1647825" y="247650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Clarify through chat</a:t>
            </a:r>
          </a:p>
        </p:txBody>
      </p:sp>
      <p:sp>
        <p:nvSpPr>
          <p:cNvPr id="9" name="">
            <a:extLst xmlns:a="http://schemas.openxmlformats.org/drawingml/2006/main">
              <a:ext uri="{FF2B5EF4-FFF2-40B4-BE49-F238E27FC236}">
                <a16:creationId xmlns:a16="http://schemas.microsoft.com/office/drawing/2014/main" id="{B12DF5CC-F5EE-4BEF-9193-6FC83B899188}"/>
              </a:ext>
            </a:extLst>
          </p:cNvPr>
          <p:cNvSpPr>
            <a:spLocks xmlns:a="http://schemas.openxmlformats.org/drawingml/2006/main" noGrp="1"/>
          </p:cNvSpPr>
          <p:nvPr/>
        </p:nvSpPr>
        <p:spPr>
          <a:xfrm xmlns:a="http://schemas.openxmlformats.org/drawingml/2006/main">
            <a:off x="1666875" y="289560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OpenAI generates the interview and a concrete call plan.</a:t>
            </a:r>
          </a:p>
        </p:txBody>
      </p:sp>
      <p:sp>
        <p:nvSpPr>
          <p:cNvPr id="10" name="">
            <a:extLst xmlns:a="http://schemas.openxmlformats.org/drawingml/2006/main">
              <a:ext uri="{FF2B5EF4-FFF2-40B4-BE49-F238E27FC236}">
                <a16:creationId xmlns:a16="http://schemas.microsoft.com/office/drawing/2014/main" id="{7D9190CF-68A1-4C8E-8EE1-6D7C9BF2839E}"/>
              </a:ext>
            </a:extLst>
          </p:cNvPr>
          <p:cNvSpPr>
            <a:spLocks xmlns:a="http://schemas.openxmlformats.org/drawingml/2006/main" noGrp="1"/>
          </p:cNvSpPr>
          <p:nvPr/>
        </p:nvSpPr>
        <p:spPr>
          <a:xfrm xmlns:a="http://schemas.openxmlformats.org/drawingml/2006/main">
            <a:off x="704850" y="33623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3639FB3-662E-41E9-9692-57541F7AB435}"/>
              </a:ext>
            </a:extLst>
          </p:cNvPr>
          <p:cNvSpPr>
            <a:spLocks xmlns:a="http://schemas.openxmlformats.org/drawingml/2006/main" noGrp="1"/>
          </p:cNvSpPr>
          <p:nvPr/>
        </p:nvSpPr>
        <p:spPr>
          <a:xfrm xmlns:a="http://schemas.openxmlformats.org/drawingml/2006/main">
            <a:off x="1647825" y="336232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Review and authorize</a:t>
            </a:r>
          </a:p>
        </p:txBody>
      </p:sp>
      <p:sp>
        <p:nvSpPr>
          <p:cNvPr id="12" name="">
            <a:extLst xmlns:a="http://schemas.openxmlformats.org/drawingml/2006/main">
              <a:ext uri="{FF2B5EF4-FFF2-40B4-BE49-F238E27FC236}">
                <a16:creationId xmlns:a16="http://schemas.microsoft.com/office/drawing/2014/main" id="{19372BCF-EE78-4FC3-BB4F-652AABDFD1B5}"/>
              </a:ext>
            </a:extLst>
          </p:cNvPr>
          <p:cNvSpPr>
            <a:spLocks xmlns:a="http://schemas.openxmlformats.org/drawingml/2006/main" noGrp="1"/>
          </p:cNvSpPr>
          <p:nvPr/>
        </p:nvSpPr>
        <p:spPr>
          <a:xfrm xmlns:a="http://schemas.openxmlformats.org/drawingml/2006/main">
            <a:off x="1666875" y="378142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Choose a fictional institution, then explicitly say Yes.</a:t>
            </a:r>
          </a:p>
        </p:txBody>
      </p:sp>
      <p:sp>
        <p:nvSpPr>
          <p:cNvPr id="13" name="">
            <a:extLst xmlns:a="http://schemas.openxmlformats.org/drawingml/2006/main">
              <a:ext uri="{FF2B5EF4-FFF2-40B4-BE49-F238E27FC236}">
                <a16:creationId xmlns:a16="http://schemas.microsoft.com/office/drawing/2014/main" id="{CE95F9D7-CCB4-443D-A6A6-6E277CD6CFFF}"/>
              </a:ext>
            </a:extLst>
          </p:cNvPr>
          <p:cNvSpPr>
            <a:spLocks xmlns:a="http://schemas.openxmlformats.org/drawingml/2006/main" noGrp="1"/>
          </p:cNvSpPr>
          <p:nvPr/>
        </p:nvSpPr>
        <p:spPr>
          <a:xfrm xmlns:a="http://schemas.openxmlformats.org/drawingml/2006/main">
            <a:off x="704850" y="424815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CA9CB2F3-5EFF-4C93-A7C8-9EE63FFE7DF6}"/>
              </a:ext>
            </a:extLst>
          </p:cNvPr>
          <p:cNvSpPr>
            <a:spLocks xmlns:a="http://schemas.openxmlformats.org/drawingml/2006/main" noGrp="1"/>
          </p:cNvSpPr>
          <p:nvPr/>
        </p:nvSpPr>
        <p:spPr>
          <a:xfrm xmlns:a="http://schemas.openxmlformats.org/drawingml/2006/main">
            <a:off x="1647825" y="424815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Resolve questions in Korean</a:t>
            </a:r>
          </a:p>
        </p:txBody>
      </p:sp>
      <p:sp>
        <p:nvSpPr>
          <p:cNvPr id="15" name="">
            <a:extLst xmlns:a="http://schemas.openxmlformats.org/drawingml/2006/main">
              <a:ext uri="{FF2B5EF4-FFF2-40B4-BE49-F238E27FC236}">
                <a16:creationId xmlns:a16="http://schemas.microsoft.com/office/drawing/2014/main" id="{75D8FFFF-00E3-4ABD-AF4B-0F04963D06BA}"/>
              </a:ext>
            </a:extLst>
          </p:cNvPr>
          <p:cNvSpPr>
            <a:spLocks xmlns:a="http://schemas.openxmlformats.org/drawingml/2006/main" noGrp="1"/>
          </p:cNvSpPr>
          <p:nvPr/>
        </p:nvSpPr>
        <p:spPr>
          <a:xfrm xmlns:a="http://schemas.openxmlformats.org/drawingml/2006/main">
            <a:off x="1666875" y="466725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Realtime voice speaks to the teammate. Unknown details return to chat.</a:t>
            </a:r>
          </a:p>
        </p:txBody>
      </p:sp>
      <p:sp>
        <p:nvSpPr>
          <p:cNvPr id="16" name="">
            <a:extLst xmlns:a="http://schemas.openxmlformats.org/drawingml/2006/main">
              <a:ext uri="{FF2B5EF4-FFF2-40B4-BE49-F238E27FC236}">
                <a16:creationId xmlns:a16="http://schemas.microsoft.com/office/drawing/2014/main" id="{B1A576A3-FB32-49A0-964D-77ACD42AA9CE}"/>
              </a:ext>
            </a:extLst>
          </p:cNvPr>
          <p:cNvSpPr>
            <a:spLocks xmlns:a="http://schemas.openxmlformats.org/drawingml/2006/main" noGrp="1"/>
          </p:cNvSpPr>
          <p:nvPr/>
        </p:nvSpPr>
        <p:spPr>
          <a:xfrm xmlns:a="http://schemas.openxmlformats.org/drawingml/2006/main">
            <a:off x="704850" y="51339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E14A6F62-1827-49A3-A97F-444D22395DA0}"/>
              </a:ext>
            </a:extLst>
          </p:cNvPr>
          <p:cNvSpPr>
            <a:spLocks xmlns:a="http://schemas.openxmlformats.org/drawingml/2006/main" noGrp="1"/>
          </p:cNvSpPr>
          <p:nvPr/>
        </p:nvSpPr>
        <p:spPr>
          <a:xfrm xmlns:a="http://schemas.openxmlformats.org/drawingml/2006/main">
            <a:off x="1647825" y="51339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Receive the result</a:t>
            </a:r>
          </a:p>
        </p:txBody>
      </p:sp>
      <p:sp>
        <p:nvSpPr>
          <p:cNvPr id="18" name="">
            <a:extLst xmlns:a="http://schemas.openxmlformats.org/drawingml/2006/main">
              <a:ext uri="{FF2B5EF4-FFF2-40B4-BE49-F238E27FC236}">
                <a16:creationId xmlns:a16="http://schemas.microsoft.com/office/drawing/2014/main" id="{E64FB2AE-B8FA-44A6-8898-E926A3E95F0B}"/>
              </a:ext>
            </a:extLst>
          </p:cNvPr>
          <p:cNvSpPr>
            <a:spLocks xmlns:a="http://schemas.openxmlformats.org/drawingml/2006/main" noGrp="1"/>
          </p:cNvSpPr>
          <p:nvPr/>
        </p:nvSpPr>
        <p:spPr>
          <a:xfrm xmlns:a="http://schemas.openxmlformats.org/drawingml/2006/main">
            <a:off x="1666875" y="55530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A conversation-grounded summary and a reasoned recommendation.</a:t>
            </a:r>
          </a:p>
        </p:txBody>
      </p:sp>
    </p:spTree>
    <p:extLst>
      <p:ext uri="{BB962C8B-B14F-4D97-AF65-F5344CB8AC3E}">
        <p14:creationId xmlns:p14="http://schemas.microsoft.com/office/powerpoint/2010/main" val="1708240104"/>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77E86D8-5E19-4BAF-9C45-3288BA750BEA}"/>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laptop demonstration</a:t>
            </a:r>
          </a:p>
        </p:txBody>
      </p:sp>
      <p:sp>
        <p:nvSpPr>
          <p:cNvPr id="2" name="">
            <a:extLst xmlns:a="http://schemas.openxmlformats.org/drawingml/2006/main">
              <a:ext uri="{FF2B5EF4-FFF2-40B4-BE49-F238E27FC236}">
                <a16:creationId xmlns:a16="http://schemas.microsoft.com/office/drawing/2014/main" id="{57EE6CDB-A0D5-427E-A830-58357EA607EF}"/>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51501353-3C36-4559-BC93-2681C5D45CD3}"/>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3E941D2A-34A5-45BF-9988-BC9FE662C386}"/>
              </a:ext>
            </a:extLst>
          </p:cNvPr>
          <p:cNvSpPr>
            <a:spLocks xmlns:a="http://schemas.openxmlformats.org/drawingml/2006/main" noGrp="1"/>
          </p:cNvSpPr>
          <p:nvPr/>
        </p:nvSpPr>
        <p:spPr>
          <a:xfrm xmlns:a="http://schemas.openxmlformats.org/drawingml/2006/main">
            <a:off x="704850" y="13620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86224"/>
                </a:solidFill>
                <a:latin typeface="Arial"/>
                <a:ea typeface="Arial"/>
                <a:cs typeface="Arial"/>
              </a:defRPr>
            </a:pPr>
            <a:r>
              <a:rPr sz="1875" b="1">
                <a:solidFill>
                  <a:srgbClr val="986224"/>
                </a:solidFill>
                <a:latin typeface="Arial"/>
                <a:ea typeface="Arial"/>
                <a:cs typeface="Arial"/>
              </a:rPr>
              <a:t>Opening received · shop flow incomplete</a:t>
            </a:r>
          </a:p>
        </p:txBody>
      </p:sp>
      <p:sp>
        <p:nvSpPr>
          <p:cNvPr id="5" name="">
            <a:extLst xmlns:a="http://schemas.openxmlformats.org/drawingml/2006/main">
              <a:ext uri="{FF2B5EF4-FFF2-40B4-BE49-F238E27FC236}">
                <a16:creationId xmlns:a16="http://schemas.microsoft.com/office/drawing/2014/main" id="{A5F49E45-9260-4624-A32B-1E58F4E42BD7}"/>
              </a:ext>
            </a:extLst>
          </p:cNvPr>
          <p:cNvSpPr>
            <a:spLocks xmlns:a="http://schemas.openxmlformats.org/drawingml/2006/main" noGrp="1"/>
          </p:cNvSpPr>
          <p:nvPr/>
        </p:nvSpPr>
        <p:spPr>
          <a:xfrm xmlns:a="http://schemas.openxmlformats.org/drawingml/2006/main">
            <a:off x="704850" y="21240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CUSTOMER TAB</a:t>
            </a:r>
          </a:p>
        </p:txBody>
      </p:sp>
      <p:sp>
        <p:nvSpPr>
          <p:cNvPr id="6" name="">
            <a:extLst xmlns:a="http://schemas.openxmlformats.org/drawingml/2006/main">
              <a:ext uri="{FF2B5EF4-FFF2-40B4-BE49-F238E27FC236}">
                <a16:creationId xmlns:a16="http://schemas.microsoft.com/office/drawing/2014/main" id="{DD3881BA-2A47-47D1-B375-D5F512F76BED}"/>
              </a:ext>
            </a:extLst>
          </p:cNvPr>
          <p:cNvSpPr>
            <a:spLocks xmlns:a="http://schemas.openxmlformats.org/drawingml/2006/main" noGrp="1"/>
          </p:cNvSpPr>
          <p:nvPr/>
        </p:nvSpPr>
        <p:spPr>
          <a:xfrm xmlns:a="http://schemas.openxmlformats.org/drawingml/2006/main">
            <a:off x="704850" y="2638425"/>
            <a:ext cx="54483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“Can you help me check whether</a:t>
            </a:r>
          </a:p>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a shop has an item in stock?”</a:t>
            </a:r>
          </a:p>
        </p:txBody>
      </p:sp>
      <p:sp>
        <p:nvSpPr>
          <p:cNvPr id="7" name="">
            <a:extLst xmlns:a="http://schemas.openxmlformats.org/drawingml/2006/main">
              <a:ext uri="{FF2B5EF4-FFF2-40B4-BE49-F238E27FC236}">
                <a16:creationId xmlns:a16="http://schemas.microsoft.com/office/drawing/2014/main" id="{947714B9-FC64-4783-AD76-608DCAB86045}"/>
              </a:ext>
            </a:extLst>
          </p:cNvPr>
          <p:cNvSpPr>
            <a:spLocks xmlns:a="http://schemas.openxmlformats.org/drawingml/2006/main" noGrp="1"/>
          </p:cNvSpPr>
          <p:nvPr/>
        </p:nvSpPr>
        <p:spPr>
          <a:xfrm xmlns:a="http://schemas.openxmlformats.org/drawingml/2006/main">
            <a:off x="704850" y="3648075"/>
            <a:ext cx="5381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Answer the AI’s questions.</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Review the plan and authorize.</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Reply to unknown details in chat.</a:t>
            </a:r>
          </a:p>
        </p:txBody>
      </p:sp>
      <p:sp>
        <p:nvSpPr>
          <p:cNvPr id="8" name="">
            <a:extLst xmlns:a="http://schemas.openxmlformats.org/drawingml/2006/main">
              <a:ext uri="{FF2B5EF4-FFF2-40B4-BE49-F238E27FC236}">
                <a16:creationId xmlns:a16="http://schemas.microsoft.com/office/drawing/2014/main" id="{4A3E6363-7EC1-4111-AD61-5A96DEB6646F}"/>
              </a:ext>
            </a:extLst>
          </p:cNvPr>
          <p:cNvSpPr>
            <a:spLocks xmlns:a="http://schemas.openxmlformats.org/drawingml/2006/main" noGrp="1"/>
          </p:cNvSpPr>
          <p:nvPr/>
        </p:nvSpPr>
        <p:spPr>
          <a:xfrm xmlns:a="http://schemas.openxmlformats.org/drawingml/2006/main">
            <a:off x="6800850" y="2124075"/>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BUSINESS TAB</a:t>
            </a:r>
          </a:p>
        </p:txBody>
      </p:sp>
      <p:sp>
        <p:nvSpPr>
          <p:cNvPr id="9" name="">
            <a:extLst xmlns:a="http://schemas.openxmlformats.org/drawingml/2006/main">
              <a:ext uri="{FF2B5EF4-FFF2-40B4-BE49-F238E27FC236}">
                <a16:creationId xmlns:a16="http://schemas.microsoft.com/office/drawing/2014/main" id="{305BB538-4269-43B4-AE24-038E1085D4B9}"/>
              </a:ext>
            </a:extLst>
          </p:cNvPr>
          <p:cNvSpPr>
            <a:spLocks xmlns:a="http://schemas.openxmlformats.org/drawingml/2006/main" noGrp="1"/>
          </p:cNvSpPr>
          <p:nvPr/>
        </p:nvSpPr>
        <p:spPr>
          <a:xfrm xmlns:a="http://schemas.openxmlformats.org/drawingml/2006/main">
            <a:off x="6800850" y="2638425"/>
            <a:ext cx="468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Inactive until authorized</a:t>
            </a:r>
          </a:p>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and accepted</a:t>
            </a:r>
          </a:p>
        </p:txBody>
      </p:sp>
      <p:sp>
        <p:nvSpPr>
          <p:cNvPr id="10" name="">
            <a:extLst xmlns:a="http://schemas.openxmlformats.org/drawingml/2006/main">
              <a:ext uri="{FF2B5EF4-FFF2-40B4-BE49-F238E27FC236}">
                <a16:creationId xmlns:a16="http://schemas.microsoft.com/office/drawing/2014/main" id="{B991AD14-6B2B-4BC5-B2A7-4131F6CD7649}"/>
              </a:ext>
            </a:extLst>
          </p:cNvPr>
          <p:cNvSpPr>
            <a:spLocks xmlns:a="http://schemas.openxmlformats.org/drawingml/2006/main" noGrp="1"/>
          </p:cNvSpPr>
          <p:nvPr/>
        </p:nvSpPr>
        <p:spPr>
          <a:xfrm xmlns:a="http://schemas.openxmlformats.org/drawingml/2006/main">
            <a:off x="6800850" y="3686175"/>
            <a:ext cx="4686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The teammate accepts the call.</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Speak Korean through the laptop’s</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microphone and speaker.</a:t>
            </a:r>
          </a:p>
        </p:txBody>
      </p:sp>
      <p:sp>
        <p:nvSpPr>
          <p:cNvPr id="11" name="">
            <a:extLst xmlns:a="http://schemas.openxmlformats.org/drawingml/2006/main">
              <a:ext uri="{FF2B5EF4-FFF2-40B4-BE49-F238E27FC236}">
                <a16:creationId xmlns:a16="http://schemas.microsoft.com/office/drawing/2014/main" id="{5F7F2D01-1031-49C0-A2A0-18C6052CE18C}"/>
              </a:ext>
            </a:extLst>
          </p:cNvPr>
          <p:cNvSpPr>
            <a:spLocks xmlns:a="http://schemas.openxmlformats.org/drawingml/2006/main" noGrp="1"/>
          </p:cNvSpPr>
          <p:nvPr/>
        </p:nvSpPr>
        <p:spPr>
          <a:xfrm xmlns:a="http://schemas.openxmlformats.org/drawingml/2006/main">
            <a:off x="704850" y="5172075"/>
            <a:ext cx="10753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Navy is known. Whether black is acceptable is still unknown.</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planned relay asks the customer, then returns the answer in Korean.</a:t>
            </a:r>
          </a:p>
        </p:txBody>
      </p:sp>
      <p:sp>
        <p:nvSpPr>
          <p:cNvPr id="12" name="">
            <a:extLst xmlns:a="http://schemas.openxmlformats.org/drawingml/2006/main">
              <a:ext uri="{FF2B5EF4-FFF2-40B4-BE49-F238E27FC236}">
                <a16:creationId xmlns:a16="http://schemas.microsoft.com/office/drawing/2014/main" id="{1D1EDDF9-3079-4EE8-97A9-6238C1C96FC1}"/>
              </a:ext>
            </a:extLst>
          </p:cNvPr>
          <p:cNvSpPr>
            <a:spLocks xmlns:a="http://schemas.openxmlformats.org/drawingml/2006/main" noGrp="1"/>
          </p:cNvSpPr>
          <p:nvPr/>
        </p:nvSpPr>
        <p:spPr>
          <a:xfrm xmlns:a="http://schemas.openxmlformats.org/drawingml/2006/main">
            <a:off x="704850" y="5943600"/>
            <a:ext cx="1075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Completion requires every required answer and a confirmed readback.</a:t>
            </a:r>
          </a:p>
        </p:txBody>
      </p:sp>
    </p:spTree>
    <p:extLst>
      <p:ext uri="{BB962C8B-B14F-4D97-AF65-F5344CB8AC3E}">
        <p14:creationId xmlns:p14="http://schemas.microsoft.com/office/powerpoint/2010/main" val="2136494099"/>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A3B214-2A8B-4395-AF53-9C5E87C1B58F}"/>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Codex work and verification</a:t>
            </a:r>
          </a:p>
        </p:txBody>
      </p:sp>
      <p:sp>
        <p:nvSpPr>
          <p:cNvPr id="2" name="">
            <a:extLst xmlns:a="http://schemas.openxmlformats.org/drawingml/2006/main">
              <a:ext uri="{FF2B5EF4-FFF2-40B4-BE49-F238E27FC236}">
                <a16:creationId xmlns:a16="http://schemas.microsoft.com/office/drawing/2014/main" id="{97F54962-0C4B-4509-841D-A0F521A90CA3}"/>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2B782932-EF48-4387-83E9-9C49AC8E8A4D}"/>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45CA7C13-B4B1-475B-ABFB-BEF74BCDDC77}"/>
              </a:ext>
            </a:extLst>
          </p:cNvPr>
          <p:cNvSpPr>
            <a:spLocks xmlns:a="http://schemas.openxmlformats.org/drawingml/2006/main" noGrp="1"/>
          </p:cNvSpPr>
          <p:nvPr/>
        </p:nvSpPr>
        <p:spPr>
          <a:xfrm xmlns:a="http://schemas.openxmlformats.org/drawingml/2006/main">
            <a:off x="704850" y="14954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B5147"/>
                </a:solidFill>
                <a:latin typeface="Arial"/>
                <a:ea typeface="Arial"/>
                <a:cs typeface="Arial"/>
              </a:defRPr>
            </a:pPr>
            <a:r>
              <a:rPr sz="2250" b="1">
                <a:solidFill>
                  <a:srgbClr val="1B5147"/>
                </a:solidFill>
                <a:latin typeface="Arial"/>
                <a:ea typeface="Arial"/>
                <a:cs typeface="Arial"/>
              </a:rPr>
              <a:t>Codex built the chat, call state, and test harnesses</a:t>
            </a:r>
          </a:p>
        </p:txBody>
      </p:sp>
      <p:sp>
        <p:nvSpPr>
          <p:cNvPr id="5" name="">
            <a:extLst xmlns:a="http://schemas.openxmlformats.org/drawingml/2006/main">
              <a:ext uri="{FF2B5EF4-FFF2-40B4-BE49-F238E27FC236}">
                <a16:creationId xmlns:a16="http://schemas.microsoft.com/office/drawing/2014/main" id="{05A5CFEA-1AC9-4A76-89A5-19B0916A9C88}"/>
              </a:ext>
            </a:extLst>
          </p:cNvPr>
          <p:cNvSpPr>
            <a:spLocks xmlns:a="http://schemas.openxmlformats.org/drawingml/2006/main" noGrp="1"/>
          </p:cNvSpPr>
          <p:nvPr/>
        </p:nvSpPr>
        <p:spPr>
          <a:xfrm xmlns:a="http://schemas.openxmlformats.org/drawingml/2006/main">
            <a:off x="704850" y="19526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63 code + 23 HTTP checks passed. Mocked browser checks:</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20 customer + 14 business checks passed.</a:t>
            </a:r>
          </a:p>
        </p:txBody>
      </p:sp>
      <p:sp>
        <p:nvSpPr>
          <p:cNvPr id="6" name="">
            <a:extLst xmlns:a="http://schemas.openxmlformats.org/drawingml/2006/main">
              <a:ext uri="{FF2B5EF4-FFF2-40B4-BE49-F238E27FC236}">
                <a16:creationId xmlns:a16="http://schemas.microsoft.com/office/drawing/2014/main" id="{56205C77-B2D6-4B5D-BDC7-15D65177786A}"/>
              </a:ext>
            </a:extLst>
          </p:cNvPr>
          <p:cNvSpPr>
            <a:spLocks xmlns:a="http://schemas.openxmlformats.org/drawingml/2006/main" noGrp="1"/>
          </p:cNvSpPr>
          <p:nvPr/>
        </p:nvSpPr>
        <p:spPr>
          <a:xfrm xmlns:a="http://schemas.openxmlformats.org/drawingml/2006/main">
            <a:off x="704850" y="272415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HTTP setup plans are synthetic. These checks do not prove speech or value.</a:t>
            </a:r>
          </a:p>
        </p:txBody>
      </p:sp>
      <p:sp>
        <p:nvSpPr>
          <p:cNvPr id="7" name="">
            <a:extLst xmlns:a="http://schemas.openxmlformats.org/drawingml/2006/main">
              <a:ext uri="{FF2B5EF4-FFF2-40B4-BE49-F238E27FC236}">
                <a16:creationId xmlns:a16="http://schemas.microsoft.com/office/drawing/2014/main" id="{EEAFDB05-4601-40A6-A298-8BD730B4E926}"/>
              </a:ext>
            </a:extLst>
          </p:cNvPr>
          <p:cNvSpPr>
            <a:spLocks xmlns:a="http://schemas.openxmlformats.org/drawingml/2006/main" noGrp="1"/>
          </p:cNvSpPr>
          <p:nvPr/>
        </p:nvSpPr>
        <p:spPr>
          <a:xfrm xmlns:a="http://schemas.openxmlformats.org/drawingml/2006/main">
            <a:off x="704850" y="33242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Latest shop voice attempt: Partial</a:t>
            </a:r>
          </a:p>
        </p:txBody>
      </p:sp>
      <p:sp>
        <p:nvSpPr>
          <p:cNvPr id="8" name="">
            <a:extLst xmlns:a="http://schemas.openxmlformats.org/drawingml/2006/main">
              <a:ext uri="{FF2B5EF4-FFF2-40B4-BE49-F238E27FC236}">
                <a16:creationId xmlns:a16="http://schemas.microsoft.com/office/drawing/2014/main" id="{DCE41109-2354-4547-AD7A-54358F077CBC}"/>
              </a:ext>
            </a:extLst>
          </p:cNvPr>
          <p:cNvSpPr>
            <a:spLocks xmlns:a="http://schemas.openxmlformats.org/drawingml/2006/main" noGrp="1"/>
          </p:cNvSpPr>
          <p:nvPr/>
        </p:nvSpPr>
        <p:spPr>
          <a:xfrm xmlns:a="http://schemas.openxmlformats.org/drawingml/2006/main">
            <a:off x="704850" y="38004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Korean opening received; human audibility not confirmed.</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Stock and price were wrongly inferred; mic stalled, operator ended.</a:t>
            </a:r>
          </a:p>
        </p:txBody>
      </p:sp>
      <p:sp>
        <p:nvSpPr>
          <p:cNvPr id="9" name="">
            <a:extLst xmlns:a="http://schemas.openxmlformats.org/drawingml/2006/main">
              <a:ext uri="{FF2B5EF4-FFF2-40B4-BE49-F238E27FC236}">
                <a16:creationId xmlns:a16="http://schemas.microsoft.com/office/drawing/2014/main" id="{FFB03FF8-06E9-40CE-A965-A9C85DE71884}"/>
              </a:ext>
            </a:extLst>
          </p:cNvPr>
          <p:cNvSpPr>
            <a:spLocks xmlns:a="http://schemas.openxmlformats.org/drawingml/2006/main" noGrp="1"/>
          </p:cNvSpPr>
          <p:nvPr/>
        </p:nvSpPr>
        <p:spPr>
          <a:xfrm xmlns:a="http://schemas.openxmlformats.org/drawingml/2006/main">
            <a:off x="704850" y="50101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986224"/>
                </a:solidFill>
                <a:latin typeface="Arial"/>
                <a:ea typeface="Arial"/>
                <a:cs typeface="Arial"/>
              </a:defRPr>
            </a:pPr>
            <a:r>
              <a:rPr sz="2325" b="1">
                <a:solidFill>
                  <a:srgbClr val="986224"/>
                </a:solidFill>
                <a:latin typeface="Arial"/>
                <a:ea typeface="Arial"/>
                <a:cs typeface="Arial"/>
              </a:rPr>
              <a:t>Text replay passed; live repeat pending</a:t>
            </a:r>
          </a:p>
        </p:txBody>
      </p:sp>
      <p:sp>
        <p:nvSpPr>
          <p:cNvPr id="10" name="">
            <a:extLst xmlns:a="http://schemas.openxmlformats.org/drawingml/2006/main">
              <a:ext uri="{FF2B5EF4-FFF2-40B4-BE49-F238E27FC236}">
                <a16:creationId xmlns:a16="http://schemas.microsoft.com/office/drawing/2014/main" id="{045CC994-B281-4998-B55E-3E0FA52E9847}"/>
              </a:ext>
            </a:extLst>
          </p:cNvPr>
          <p:cNvSpPr>
            <a:spLocks xmlns:a="http://schemas.openxmlformats.org/drawingml/2006/main" noGrp="1"/>
          </p:cNvSpPr>
          <p:nvPr/>
        </p:nvSpPr>
        <p:spPr>
          <a:xfrm xmlns:a="http://schemas.openxmlformats.org/drawingml/2006/main">
            <a:off x="704850" y="5486400"/>
            <a:ext cx="10763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Recorded-text advice: 9/9 checks with one real API request.</a:t>
            </a:r>
          </a:p>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Shop audibility, live relay and normal completion: Unverified.</a:t>
            </a:r>
          </a:p>
        </p:txBody>
      </p:sp>
    </p:spTree>
    <p:extLst>
      <p:ext uri="{BB962C8B-B14F-4D97-AF65-F5344CB8AC3E}">
        <p14:creationId xmlns:p14="http://schemas.microsoft.com/office/powerpoint/2010/main" val="1538490241"/>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3AB2E7-1F08-4C0E-BEA6-177D80B5983C}"/>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Value hypothesis and scope</a:t>
            </a:r>
          </a:p>
        </p:txBody>
      </p:sp>
      <p:sp>
        <p:nvSpPr>
          <p:cNvPr id="2" name="">
            <a:extLst xmlns:a="http://schemas.openxmlformats.org/drawingml/2006/main">
              <a:ext uri="{FF2B5EF4-FFF2-40B4-BE49-F238E27FC236}">
                <a16:creationId xmlns:a16="http://schemas.microsoft.com/office/drawing/2014/main" id="{1C1E8B29-8404-4A3E-94C6-ECC618E7A9BA}"/>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3B0E42DF-2E46-415D-BE73-145B06A26744}"/>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C95E0430-544F-4583-A262-4384AC1B7B04}"/>
              </a:ext>
            </a:extLst>
          </p:cNvPr>
          <p:cNvSpPr>
            <a:spLocks xmlns:a="http://schemas.openxmlformats.org/drawingml/2006/main" noGrp="1"/>
          </p:cNvSpPr>
          <p:nvPr/>
        </p:nvSpPr>
        <p:spPr>
          <a:xfrm xmlns:a="http://schemas.openxmlformats.org/drawingml/2006/main">
            <a:off x="704850" y="1704975"/>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Can a text conversation reduce the barrier</a:t>
            </a:r>
          </a:p>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to getting help from a Korean business?</a:t>
            </a:r>
          </a:p>
        </p:txBody>
      </p:sp>
      <p:sp>
        <p:nvSpPr>
          <p:cNvPr id="5" name="">
            <a:extLst xmlns:a="http://schemas.openxmlformats.org/drawingml/2006/main">
              <a:ext uri="{FF2B5EF4-FFF2-40B4-BE49-F238E27FC236}">
                <a16:creationId xmlns:a16="http://schemas.microsoft.com/office/drawing/2014/main" id="{B7997E78-C16E-4CD9-B8C0-0FF34109C488}"/>
              </a:ext>
            </a:extLst>
          </p:cNvPr>
          <p:cNvSpPr>
            <a:spLocks xmlns:a="http://schemas.openxmlformats.org/drawingml/2006/main" noGrp="1"/>
          </p:cNvSpPr>
          <p:nvPr/>
        </p:nvSpPr>
        <p:spPr>
          <a:xfrm xmlns:a="http://schemas.openxmlformats.org/drawingml/2006/main">
            <a:off x="704850" y="34004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986224"/>
                </a:solidFill>
                <a:latin typeface="Arial"/>
                <a:ea typeface="Arial"/>
                <a:cs typeface="Arial"/>
              </a:defRPr>
            </a:pPr>
            <a:r>
              <a:rPr sz="3225" b="1">
                <a:solidFill>
                  <a:srgbClr val="986224"/>
                </a:solidFill>
                <a:latin typeface="Arial"/>
                <a:ea typeface="Arial"/>
                <a:cs typeface="Arial"/>
              </a:rPr>
              <a:t>User value: Unverified</a:t>
            </a:r>
          </a:p>
        </p:txBody>
      </p:sp>
      <p:sp>
        <p:nvSpPr>
          <p:cNvPr id="6" name="">
            <a:extLst xmlns:a="http://schemas.openxmlformats.org/drawingml/2006/main">
              <a:ext uri="{FF2B5EF4-FFF2-40B4-BE49-F238E27FC236}">
                <a16:creationId xmlns:a16="http://schemas.microsoft.com/office/drawing/2014/main" id="{9B621BE3-BBEB-48E6-A627-5F4AD4FBAFA6}"/>
              </a:ext>
            </a:extLst>
          </p:cNvPr>
          <p:cNvSpPr>
            <a:spLocks xmlns:a="http://schemas.openxmlformats.org/drawingml/2006/main" noGrp="1"/>
          </p:cNvSpPr>
          <p:nvPr/>
        </p:nvSpPr>
        <p:spPr>
          <a:xfrm xmlns:a="http://schemas.openxmlformats.org/drawingml/2006/main">
            <a:off x="704850" y="40767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No feedback from actual target users has been collected.</a:t>
            </a:r>
          </a:p>
        </p:txBody>
      </p:sp>
      <p:sp>
        <p:nvSpPr>
          <p:cNvPr id="7" name="">
            <a:extLst xmlns:a="http://schemas.openxmlformats.org/drawingml/2006/main">
              <a:ext uri="{FF2B5EF4-FFF2-40B4-BE49-F238E27FC236}">
                <a16:creationId xmlns:a16="http://schemas.microsoft.com/office/drawing/2014/main" id="{4A4AE514-DD79-4160-A67A-9B82FACC9B6B}"/>
              </a:ext>
            </a:extLst>
          </p:cNvPr>
          <p:cNvSpPr>
            <a:spLocks xmlns:a="http://schemas.openxmlformats.org/drawingml/2006/main" noGrp="1"/>
          </p:cNvSpPr>
          <p:nvPr/>
        </p:nvSpPr>
        <p:spPr>
          <a:xfrm xmlns:a="http://schemas.openxmlformats.org/drawingml/2006/main">
            <a:off x="704850" y="4953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Today’s scope</a:t>
            </a:r>
          </a:p>
        </p:txBody>
      </p:sp>
      <p:sp>
        <p:nvSpPr>
          <p:cNvPr id="8" name="">
            <a:extLst xmlns:a="http://schemas.openxmlformats.org/drawingml/2006/main">
              <a:ext uri="{FF2B5EF4-FFF2-40B4-BE49-F238E27FC236}">
                <a16:creationId xmlns:a16="http://schemas.microsoft.com/office/drawing/2014/main" id="{37E04880-F93C-432C-BDB6-CF8A56E0B8A0}"/>
              </a:ext>
            </a:extLst>
          </p:cNvPr>
          <p:cNvSpPr>
            <a:spLocks xmlns:a="http://schemas.openxmlformats.org/drawingml/2006/main" noGrp="1"/>
          </p:cNvSpPr>
          <p:nvPr/>
        </p:nvSpPr>
        <p:spPr>
          <a:xfrm xmlns:a="http://schemas.openxmlformats.org/drawingml/2006/main">
            <a:off x="704850" y="5429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Fictional institutions. Simulated calls in two laptop tabs.</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No real calls, real discovery, or reception/doctor sheets.</a:t>
            </a:r>
          </a:p>
        </p:txBody>
      </p:sp>
    </p:spTree>
    <p:extLst>
      <p:ext uri="{BB962C8B-B14F-4D97-AF65-F5344CB8AC3E}">
        <p14:creationId xmlns:p14="http://schemas.microsoft.com/office/powerpoint/2010/main" val="12944698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2026-09-29T06:17:56.7230000Z</dcterms:created>
  <dcterms:modified xsi:type="dcterms:W3CDTF">2026-09-29T06:17:56.7230000Z</dcterms:modified>
</coreProperties>
</file>