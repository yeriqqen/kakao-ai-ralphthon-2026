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f880b8525f4cb2" /><Relationship Type="http://schemas.openxmlformats.org/officeDocument/2006/relationships/extended-properties" Target="/docProps/app.xml" Id="Rcf4a07b91a9746d0" /><Relationship Type="http://schemas.openxmlformats.org/officeDocument/2006/relationships/officeDocument" Target="/ppt/presentation.xml" Id="Rc253e4c1c9054594" /></Relationships>
</file>

<file path=ppt/presentation.xml><?xml version="1.0" encoding="utf-8"?>
<p:presentation xmlns:p="http://schemas.openxmlformats.org/presentationml/2006/main">
  <p:sldMasterIdLst>
    <p:sldMasterId xmlns:r="http://schemas.openxmlformats.org/officeDocument/2006/relationships" id="2147483648" r:id="R5e90e6947e2c4332"/>
  </p:sldMasterIdLst>
  <p:notesMasterIdLst>
    <p:notesMasterId xmlns:r="http://schemas.openxmlformats.org/officeDocument/2006/relationships" r:id="R73ae07bc843d40e7"/>
  </p:notesMasterIdLst>
  <p:sldIdLst>
    <p:sldId xmlns:r="http://schemas.openxmlformats.org/officeDocument/2006/relationships" id="256" r:id="Rff9594bb891c497f"/>
    <p:sldId xmlns:r="http://schemas.openxmlformats.org/officeDocument/2006/relationships" id="257" r:id="R9abfaa57398340e5"/>
    <p:sldId xmlns:r="http://schemas.openxmlformats.org/officeDocument/2006/relationships" id="258" r:id="R00f9086ecd9c4c75"/>
    <p:sldId xmlns:r="http://schemas.openxmlformats.org/officeDocument/2006/relationships" id="259" r:id="Rac9e705689704913"/>
    <p:sldId xmlns:r="http://schemas.openxmlformats.org/officeDocument/2006/relationships" id="260" r:id="R48383979b3a14e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7c5a8c5298494c" /><Relationship Type="http://schemas.openxmlformats.org/officeDocument/2006/relationships/slideMaster" Target="/ppt/slideMasters/slideMaster1.xml" Id="R5e90e6947e2c4332" /><Relationship Type="http://schemas.openxmlformats.org/officeDocument/2006/relationships/notesMaster" Target="/ppt/notesMasters/notesMaster1.xml" Id="R73ae07bc843d40e7" /><Relationship Type="http://schemas.openxmlformats.org/officeDocument/2006/relationships/presProps" Target="/ppt/presProps.xml" Id="Rf29b320618f148a6" /><Relationship Type="http://schemas.openxmlformats.org/officeDocument/2006/relationships/tableStyles" Target="/ppt/tableStyles.xml" Id="Rec70f629abfb434c" /><Relationship Type="http://schemas.openxmlformats.org/officeDocument/2006/relationships/slide" Target="/ppt/slides/slide1.xml" Id="Rff9594bb891c497f" /><Relationship Type="http://schemas.openxmlformats.org/officeDocument/2006/relationships/slide" Target="/ppt/slides/slide2.xml" Id="R9abfaa57398340e5" /><Relationship Type="http://schemas.openxmlformats.org/officeDocument/2006/relationships/slide" Target="/ppt/slides/slide3.xml" Id="R00f9086ecd9c4c75" /><Relationship Type="http://schemas.openxmlformats.org/officeDocument/2006/relationships/slide" Target="/ppt/slides/slide4.xml" Id="Rac9e705689704913" /><Relationship Type="http://schemas.openxmlformats.org/officeDocument/2006/relationships/slide" Target="/ppt/slides/slide5.xml" Id="R48383979b3a14e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09200115354e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be956ab35148fd" /><Relationship Type="http://schemas.openxmlformats.org/officeDocument/2006/relationships/notesMaster" Target="/ppt/notesMasters/notesMaster1.xml" Id="R34878274aba74d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124c1097a748fc" /><Relationship Type="http://schemas.openxmlformats.org/officeDocument/2006/relationships/notesMaster" Target="/ppt/notesMasters/notesMaster1.xml" Id="Rb2d79b2b25104c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2e32a18a584c62" /><Relationship Type="http://schemas.openxmlformats.org/officeDocument/2006/relationships/notesMaster" Target="/ppt/notesMasters/notesMaster1.xml" Id="R56c916fbd44e45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0a3aeb4f484a55" /><Relationship Type="http://schemas.openxmlformats.org/officeDocument/2006/relationships/notesMaster" Target="/ppt/notesMasters/notesMaster1.xml" Id="R2b321de80a7a48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720141eefc4271" /><Relationship Type="http://schemas.openxmlformats.org/officeDocument/2006/relationships/notesMaster" Target="/ppt/notesMasters/notesMaster1.xml" Id="Rf5b50638f8e045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0:00–0:25. Explain the intended users and problem. This is a product hypothesis, not a claim of validated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0:25–0:55. Show the clean chat interface and language selection. The interview, institutions and required questions come from the model. These are intended runtime steps; the current verification status is on slide four.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0:55–2:00. The fifth PR rehearsal completed at 16:04 KST on this laptop. The customer requested navy waterproof daypack stock, price and latest evening pickup. After authorization and acceptance, the Korean-speaking teammate said navy was unavailable and black available without explicitly asking a question. YOKOBU proactively asked the customer whether black was acceptable. The human customer replied yes; YOKOBU returned that choice in Korean and updated the current questions. The earlier stock answer was retained. The teammate gave 10,000 won and pickup until 7 PM. A full readback was confirmed and the call completed normally. One price utterance was transcribed only as an incomplete fragment and required clarification. The user confirmed the Korean opening, return, goodbye and microphone shutdown. Source: artifacts/v2/pr1-live-shop-fifth-completed.json and docs/v2-pr1-review.md. All information is fictional; no order or reservation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2:00–2:30. Codex used actual failed rehearsals to diagnose ignored business questions, repeated readbacks, unavailable-stock inferences and unchanged question targets after a customer decision. It fixed saved transcript identity at the HTTP boundary, added detection of questions and offered alternatives, preserved supported answers, and refined current targets after real customer replies. The fifth live run completed the core flow. Earlier failures remain preserved. Its source was committed as 8ce4526; teammate concise-result and shutdown changes through 92cedd6 were then integrated and regression-tested. Combined checks: 67 unit, 30 localhost HTTP with mocked AI, 20 customer UI, 19 business UI, 32 design and eight extracted-package checks; build passed. These tests do not establish another live run or broad reliability. English, Russian and Chinese interfaces are covered; real multilingual model fidelity has recorded limits. Target-user value and physical two-phone connectivity remain unverified. Sources: docs/v2-pr1-review.md and artifacts/v2/pr1-live-shop-fifth-completed.json.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2:30–3:00. Show the resulting summary and recommendation only if a real conversation has produced them. Explain unresolved information and testing limits. Describe the representative Codex contribution: dynamic state and authorization checks, language coverage, and explicit synthetic-vs-live evidence. Do not claim target-user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3ced9b60f940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6a728a4b0a4815" /><Relationship Type="http://schemas.openxmlformats.org/officeDocument/2006/relationships/slideLayout" Target="/ppt/slideLayouts/slideLayout1.xml" Id="Rdf675013b31646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675013b31646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6bf2d874f14347" /><Relationship Type="http://schemas.openxmlformats.org/officeDocument/2006/relationships/notesSlide" Target="/ppt/notesSlides/notesSlide1.xml" Id="R0153950706bc4c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44a9aff92b42bc" /><Relationship Type="http://schemas.openxmlformats.org/officeDocument/2006/relationships/notesSlide" Target="/ppt/notesSlides/notesSlide2.xml" Id="R4c19514b41794c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c13db62904444c2" /><Relationship Type="http://schemas.openxmlformats.org/officeDocument/2006/relationships/notesSlide" Target="/ppt/notesSlides/notesSlide3.xml" Id="R61260867b06241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eb2e972d3045e4" /><Relationship Type="http://schemas.openxmlformats.org/officeDocument/2006/relationships/notesSlide" Target="/ppt/notesSlides/notesSlide4.xml" Id="Rbd41d327761049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bb5e4bd1394225" /><Relationship Type="http://schemas.openxmlformats.org/officeDocument/2006/relationships/notesSlide" Target="/ppt/notesSlides/notesSlide5.xml" Id="R86571dd121024973" /></Relationships>
</file>

<file path=ppt/slides/slide1.xml><?xml version="1.0" encoding="utf-8"?>
<p:sld xmlns:p="http://schemas.openxmlformats.org/presentationml/2006/main">
  <p:cSld>
    <p:bg>
      <p:bgPr>
        <a:solidFill xmlns:a="http://schemas.openxmlformats.org/drawingml/2006/main">
          <a:srgbClr val="1B514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AE9CEB-BB02-4740-BD4C-536FF1F81FF6}"/>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YOKOBU v2 · Fictional institutions · Simulated calls only</a:t>
            </a:r>
          </a:p>
        </p:txBody>
      </p:sp>
      <p:sp>
        <p:nvSpPr>
          <p:cNvPr id="2" name="">
            <a:extLst xmlns:a="http://schemas.openxmlformats.org/drawingml/2006/main">
              <a:ext uri="{FF2B5EF4-FFF2-40B4-BE49-F238E27FC236}">
                <a16:creationId xmlns:a16="http://schemas.microsoft.com/office/drawing/2014/main" id="{63CED414-6126-4F4B-A4B8-96BF9E196886}"/>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6121110D-7AC8-4F45-A5A0-2FC67A6DD27B}"/>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300" b="1">
                <a:solidFill>
                  <a:srgbClr val="E4F4A2"/>
                </a:solidFill>
                <a:latin typeface="Arial"/>
                <a:ea typeface="Arial"/>
                <a:cs typeface="Arial"/>
              </a:defRPr>
            </a:pPr>
            <a:r>
              <a:rPr sz="6300" b="1">
                <a:solidFill>
                  <a:srgbClr val="E4F4A2"/>
                </a:solidFill>
                <a:latin typeface="Arial"/>
                <a:ea typeface="Arial"/>
                <a:cs typeface="Arial"/>
              </a:rPr>
              <a:t>YOKOBU</a:t>
            </a:r>
          </a:p>
        </p:txBody>
      </p:sp>
      <p:sp>
        <p:nvSpPr>
          <p:cNvPr id="4" name="">
            <a:extLst xmlns:a="http://schemas.openxmlformats.org/drawingml/2006/main">
              <a:ext uri="{FF2B5EF4-FFF2-40B4-BE49-F238E27FC236}">
                <a16:creationId xmlns:a16="http://schemas.microsoft.com/office/drawing/2014/main" id="{5E749132-8BAB-43AF-9BC5-C339A19B8E16}"/>
              </a:ext>
            </a:extLst>
          </p:cNvPr>
          <p:cNvSpPr>
            <a:spLocks xmlns:a="http://schemas.openxmlformats.org/drawingml/2006/main" noGrp="1"/>
          </p:cNvSpPr>
          <p:nvPr/>
        </p:nvSpPr>
        <p:spPr>
          <a:xfrm xmlns:a="http://schemas.openxmlformats.org/drawingml/2006/main">
            <a:off x="685800" y="1990725"/>
            <a:ext cx="10820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text interface for</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Korean business conversations</a:t>
            </a:r>
          </a:p>
        </p:txBody>
      </p:sp>
      <p:sp>
        <p:nvSpPr>
          <p:cNvPr id="5" name="">
            <a:extLst xmlns:a="http://schemas.openxmlformats.org/drawingml/2006/main">
              <a:ext uri="{FF2B5EF4-FFF2-40B4-BE49-F238E27FC236}">
                <a16:creationId xmlns:a16="http://schemas.microsoft.com/office/drawing/2014/main" id="{F8349D15-83D4-44F3-851A-CE5D4ABB3978}"/>
              </a:ext>
            </a:extLst>
          </p:cNvPr>
          <p:cNvSpPr>
            <a:spLocks xmlns:a="http://schemas.openxmlformats.org/drawingml/2006/main" noGrp="1"/>
          </p:cNvSpPr>
          <p:nvPr/>
        </p:nvSpPr>
        <p:spPr>
          <a:xfrm xmlns:a="http://schemas.openxmlformats.org/drawingml/2006/main">
            <a:off x="723900" y="39433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For expats, tourists, and deaf or hard-of-hearing</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users in Korea who need information or help.</a:t>
            </a:r>
          </a:p>
        </p:txBody>
      </p:sp>
      <p:sp>
        <p:nvSpPr>
          <p:cNvPr id="6" name="">
            <a:extLst xmlns:a="http://schemas.openxmlformats.org/drawingml/2006/main">
              <a:ext uri="{FF2B5EF4-FFF2-40B4-BE49-F238E27FC236}">
                <a16:creationId xmlns:a16="http://schemas.microsoft.com/office/drawing/2014/main" id="{C8F6654F-E939-4A0B-9FA8-267E12C419FF}"/>
              </a:ext>
            </a:extLst>
          </p:cNvPr>
          <p:cNvSpPr>
            <a:spLocks xmlns:a="http://schemas.openxmlformats.org/drawingml/2006/main" noGrp="1"/>
          </p:cNvSpPr>
          <p:nvPr/>
        </p:nvSpPr>
        <p:spPr>
          <a:xfrm xmlns:a="http://schemas.openxmlformats.org/drawingml/2006/main">
            <a:off x="723900" y="521970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Language and accessibility barriers can prevent people</a:t>
            </a:r>
          </a:p>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from getting the information they need by phone.</a:t>
            </a:r>
          </a:p>
        </p:txBody>
      </p:sp>
    </p:spTree>
    <p:extLst>
      <p:ext uri="{BB962C8B-B14F-4D97-AF65-F5344CB8AC3E}">
        <p14:creationId xmlns:p14="http://schemas.microsoft.com/office/powerpoint/2010/main" val="2140048813"/>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82F5DC6-DEB7-4E8E-A9DC-1D3F48FA7222}"/>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customer experience</a:t>
            </a:r>
          </a:p>
        </p:txBody>
      </p:sp>
      <p:sp>
        <p:nvSpPr>
          <p:cNvPr id="2" name="">
            <a:extLst xmlns:a="http://schemas.openxmlformats.org/drawingml/2006/main">
              <a:ext uri="{FF2B5EF4-FFF2-40B4-BE49-F238E27FC236}">
                <a16:creationId xmlns:a16="http://schemas.microsoft.com/office/drawing/2014/main" id="{485047D5-5929-45B5-9105-4D3657D1CBAC}"/>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DAEF8C0B-C7B2-4761-8968-AECC7F1DCB19}"/>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2 / 5</a:t>
            </a:r>
          </a:p>
        </p:txBody>
      </p:sp>
      <p:sp>
        <p:nvSpPr>
          <p:cNvPr id="4" name="">
            <a:extLst xmlns:a="http://schemas.openxmlformats.org/drawingml/2006/main">
              <a:ext uri="{FF2B5EF4-FFF2-40B4-BE49-F238E27FC236}">
                <a16:creationId xmlns:a16="http://schemas.microsoft.com/office/drawing/2014/main" id="{B645D108-03C1-4A76-8865-8B497DE66D46}"/>
              </a:ext>
            </a:extLst>
          </p:cNvPr>
          <p:cNvSpPr>
            <a:spLocks xmlns:a="http://schemas.openxmlformats.org/drawingml/2006/main" noGrp="1"/>
          </p:cNvSpPr>
          <p:nvPr/>
        </p:nvSpPr>
        <p:spPr>
          <a:xfrm xmlns:a="http://schemas.openxmlformats.org/drawingml/2006/main">
            <a:off x="704850" y="15906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541AEA2-3AA9-4B27-9580-FA8C958187FB}"/>
              </a:ext>
            </a:extLst>
          </p:cNvPr>
          <p:cNvSpPr>
            <a:spLocks xmlns:a="http://schemas.openxmlformats.org/drawingml/2006/main" noGrp="1"/>
          </p:cNvSpPr>
          <p:nvPr/>
        </p:nvSpPr>
        <p:spPr>
          <a:xfrm xmlns:a="http://schemas.openxmlformats.org/drawingml/2006/main">
            <a:off x="1647825" y="15906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Describe a need</a:t>
            </a:r>
          </a:p>
        </p:txBody>
      </p:sp>
      <p:sp>
        <p:nvSpPr>
          <p:cNvPr id="6" name="">
            <a:extLst xmlns:a="http://schemas.openxmlformats.org/drawingml/2006/main">
              <a:ext uri="{FF2B5EF4-FFF2-40B4-BE49-F238E27FC236}">
                <a16:creationId xmlns:a16="http://schemas.microsoft.com/office/drawing/2014/main" id="{1D02CFFD-D834-4C69-9405-FA704B8CA098}"/>
              </a:ext>
            </a:extLst>
          </p:cNvPr>
          <p:cNvSpPr>
            <a:spLocks xmlns:a="http://schemas.openxmlformats.org/drawingml/2006/main" noGrp="1"/>
          </p:cNvSpPr>
          <p:nvPr/>
        </p:nvSpPr>
        <p:spPr>
          <a:xfrm xmlns:a="http://schemas.openxmlformats.org/drawingml/2006/main">
            <a:off x="1666875" y="20097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English by default, with Russian and Chinese options.</a:t>
            </a:r>
          </a:p>
        </p:txBody>
      </p:sp>
      <p:sp>
        <p:nvSpPr>
          <p:cNvPr id="7" name="">
            <a:extLst xmlns:a="http://schemas.openxmlformats.org/drawingml/2006/main">
              <a:ext uri="{FF2B5EF4-FFF2-40B4-BE49-F238E27FC236}">
                <a16:creationId xmlns:a16="http://schemas.microsoft.com/office/drawing/2014/main" id="{FEF88540-8EA2-4D51-955D-F3A65CA3B34B}"/>
              </a:ext>
            </a:extLst>
          </p:cNvPr>
          <p:cNvSpPr>
            <a:spLocks xmlns:a="http://schemas.openxmlformats.org/drawingml/2006/main" noGrp="1"/>
          </p:cNvSpPr>
          <p:nvPr/>
        </p:nvSpPr>
        <p:spPr>
          <a:xfrm xmlns:a="http://schemas.openxmlformats.org/drawingml/2006/main">
            <a:off x="704850" y="24765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F613D396-D208-49A6-9821-CB50293C9109}"/>
              </a:ext>
            </a:extLst>
          </p:cNvPr>
          <p:cNvSpPr>
            <a:spLocks xmlns:a="http://schemas.openxmlformats.org/drawingml/2006/main" noGrp="1"/>
          </p:cNvSpPr>
          <p:nvPr/>
        </p:nvSpPr>
        <p:spPr>
          <a:xfrm xmlns:a="http://schemas.openxmlformats.org/drawingml/2006/main">
            <a:off x="1647825" y="247650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Clarify through chat</a:t>
            </a:r>
          </a:p>
        </p:txBody>
      </p:sp>
      <p:sp>
        <p:nvSpPr>
          <p:cNvPr id="9" name="">
            <a:extLst xmlns:a="http://schemas.openxmlformats.org/drawingml/2006/main">
              <a:ext uri="{FF2B5EF4-FFF2-40B4-BE49-F238E27FC236}">
                <a16:creationId xmlns:a16="http://schemas.microsoft.com/office/drawing/2014/main" id="{977528D8-596C-4160-9015-7A6ECB67752D}"/>
              </a:ext>
            </a:extLst>
          </p:cNvPr>
          <p:cNvSpPr>
            <a:spLocks xmlns:a="http://schemas.openxmlformats.org/drawingml/2006/main" noGrp="1"/>
          </p:cNvSpPr>
          <p:nvPr/>
        </p:nvSpPr>
        <p:spPr>
          <a:xfrm xmlns:a="http://schemas.openxmlformats.org/drawingml/2006/main">
            <a:off x="1666875" y="289560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OpenAI generates the interview and a concrete call plan.</a:t>
            </a:r>
          </a:p>
        </p:txBody>
      </p:sp>
      <p:sp>
        <p:nvSpPr>
          <p:cNvPr id="10" name="">
            <a:extLst xmlns:a="http://schemas.openxmlformats.org/drawingml/2006/main">
              <a:ext uri="{FF2B5EF4-FFF2-40B4-BE49-F238E27FC236}">
                <a16:creationId xmlns:a16="http://schemas.microsoft.com/office/drawing/2014/main" id="{14A1595B-1A1F-4AF1-88C6-238EE1C256A7}"/>
              </a:ext>
            </a:extLst>
          </p:cNvPr>
          <p:cNvSpPr>
            <a:spLocks xmlns:a="http://schemas.openxmlformats.org/drawingml/2006/main" noGrp="1"/>
          </p:cNvSpPr>
          <p:nvPr/>
        </p:nvSpPr>
        <p:spPr>
          <a:xfrm xmlns:a="http://schemas.openxmlformats.org/drawingml/2006/main">
            <a:off x="704850" y="33623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C08F996-3147-4F16-95C8-6E0A238C677B}"/>
              </a:ext>
            </a:extLst>
          </p:cNvPr>
          <p:cNvSpPr>
            <a:spLocks xmlns:a="http://schemas.openxmlformats.org/drawingml/2006/main" noGrp="1"/>
          </p:cNvSpPr>
          <p:nvPr/>
        </p:nvSpPr>
        <p:spPr>
          <a:xfrm xmlns:a="http://schemas.openxmlformats.org/drawingml/2006/main">
            <a:off x="1647825" y="336232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Review and authorize</a:t>
            </a:r>
          </a:p>
        </p:txBody>
      </p:sp>
      <p:sp>
        <p:nvSpPr>
          <p:cNvPr id="12" name="">
            <a:extLst xmlns:a="http://schemas.openxmlformats.org/drawingml/2006/main">
              <a:ext uri="{FF2B5EF4-FFF2-40B4-BE49-F238E27FC236}">
                <a16:creationId xmlns:a16="http://schemas.microsoft.com/office/drawing/2014/main" id="{252C0D75-97FF-463A-A75F-90BAB783FCD1}"/>
              </a:ext>
            </a:extLst>
          </p:cNvPr>
          <p:cNvSpPr>
            <a:spLocks xmlns:a="http://schemas.openxmlformats.org/drawingml/2006/main" noGrp="1"/>
          </p:cNvSpPr>
          <p:nvPr/>
        </p:nvSpPr>
        <p:spPr>
          <a:xfrm xmlns:a="http://schemas.openxmlformats.org/drawingml/2006/main">
            <a:off x="1666875" y="378142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Choose a fictional institution, then explicitly say Yes.</a:t>
            </a:r>
          </a:p>
        </p:txBody>
      </p:sp>
      <p:sp>
        <p:nvSpPr>
          <p:cNvPr id="13" name="">
            <a:extLst xmlns:a="http://schemas.openxmlformats.org/drawingml/2006/main">
              <a:ext uri="{FF2B5EF4-FFF2-40B4-BE49-F238E27FC236}">
                <a16:creationId xmlns:a16="http://schemas.microsoft.com/office/drawing/2014/main" id="{DB9C8387-F56E-4246-A5C8-75D87EB1950E}"/>
              </a:ext>
            </a:extLst>
          </p:cNvPr>
          <p:cNvSpPr>
            <a:spLocks xmlns:a="http://schemas.openxmlformats.org/drawingml/2006/main" noGrp="1"/>
          </p:cNvSpPr>
          <p:nvPr/>
        </p:nvSpPr>
        <p:spPr>
          <a:xfrm xmlns:a="http://schemas.openxmlformats.org/drawingml/2006/main">
            <a:off x="704850" y="424815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207B5FA8-130B-4D74-A0A0-A17EBD1F1BF4}"/>
              </a:ext>
            </a:extLst>
          </p:cNvPr>
          <p:cNvSpPr>
            <a:spLocks xmlns:a="http://schemas.openxmlformats.org/drawingml/2006/main" noGrp="1"/>
          </p:cNvSpPr>
          <p:nvPr/>
        </p:nvSpPr>
        <p:spPr>
          <a:xfrm xmlns:a="http://schemas.openxmlformats.org/drawingml/2006/main">
            <a:off x="1647825" y="424815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Resolve questions in Korean</a:t>
            </a:r>
          </a:p>
        </p:txBody>
      </p:sp>
      <p:sp>
        <p:nvSpPr>
          <p:cNvPr id="15" name="">
            <a:extLst xmlns:a="http://schemas.openxmlformats.org/drawingml/2006/main">
              <a:ext uri="{FF2B5EF4-FFF2-40B4-BE49-F238E27FC236}">
                <a16:creationId xmlns:a16="http://schemas.microsoft.com/office/drawing/2014/main" id="{00E0FA74-DCC1-46F1-B3B0-97928655C4CC}"/>
              </a:ext>
            </a:extLst>
          </p:cNvPr>
          <p:cNvSpPr>
            <a:spLocks xmlns:a="http://schemas.openxmlformats.org/drawingml/2006/main" noGrp="1"/>
          </p:cNvSpPr>
          <p:nvPr/>
        </p:nvSpPr>
        <p:spPr>
          <a:xfrm xmlns:a="http://schemas.openxmlformats.org/drawingml/2006/main">
            <a:off x="1666875" y="466725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Realtime voice speaks to the teammate. Unknown details return to chat.</a:t>
            </a:r>
          </a:p>
        </p:txBody>
      </p:sp>
      <p:sp>
        <p:nvSpPr>
          <p:cNvPr id="16" name="">
            <a:extLst xmlns:a="http://schemas.openxmlformats.org/drawingml/2006/main">
              <a:ext uri="{FF2B5EF4-FFF2-40B4-BE49-F238E27FC236}">
                <a16:creationId xmlns:a16="http://schemas.microsoft.com/office/drawing/2014/main" id="{929C04C8-9BE2-4ADC-BC1A-A354700BE3E1}"/>
              </a:ext>
            </a:extLst>
          </p:cNvPr>
          <p:cNvSpPr>
            <a:spLocks xmlns:a="http://schemas.openxmlformats.org/drawingml/2006/main" noGrp="1"/>
          </p:cNvSpPr>
          <p:nvPr/>
        </p:nvSpPr>
        <p:spPr>
          <a:xfrm xmlns:a="http://schemas.openxmlformats.org/drawingml/2006/main">
            <a:off x="704850" y="51339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8AC133F5-BAF7-43FA-97BE-E87C0AE4CF2A}"/>
              </a:ext>
            </a:extLst>
          </p:cNvPr>
          <p:cNvSpPr>
            <a:spLocks xmlns:a="http://schemas.openxmlformats.org/drawingml/2006/main" noGrp="1"/>
          </p:cNvSpPr>
          <p:nvPr/>
        </p:nvSpPr>
        <p:spPr>
          <a:xfrm xmlns:a="http://schemas.openxmlformats.org/drawingml/2006/main">
            <a:off x="1647825" y="51339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Receive the result</a:t>
            </a:r>
          </a:p>
        </p:txBody>
      </p:sp>
      <p:sp>
        <p:nvSpPr>
          <p:cNvPr id="18" name="">
            <a:extLst xmlns:a="http://schemas.openxmlformats.org/drawingml/2006/main">
              <a:ext uri="{FF2B5EF4-FFF2-40B4-BE49-F238E27FC236}">
                <a16:creationId xmlns:a16="http://schemas.microsoft.com/office/drawing/2014/main" id="{3C77A889-3978-4313-AAE0-981A142DD5DE}"/>
              </a:ext>
            </a:extLst>
          </p:cNvPr>
          <p:cNvSpPr>
            <a:spLocks xmlns:a="http://schemas.openxmlformats.org/drawingml/2006/main" noGrp="1"/>
          </p:cNvSpPr>
          <p:nvPr/>
        </p:nvSpPr>
        <p:spPr>
          <a:xfrm xmlns:a="http://schemas.openxmlformats.org/drawingml/2006/main">
            <a:off x="1666875" y="55530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A conversation-grounded summary and a reasoned recommendation.</a:t>
            </a:r>
          </a:p>
        </p:txBody>
      </p:sp>
    </p:spTree>
    <p:extLst>
      <p:ext uri="{BB962C8B-B14F-4D97-AF65-F5344CB8AC3E}">
        <p14:creationId xmlns:p14="http://schemas.microsoft.com/office/powerpoint/2010/main" val="1258472250"/>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D0001F9-F72F-46CF-8620-A513AC883126}"/>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laptop demonstration</a:t>
            </a:r>
          </a:p>
        </p:txBody>
      </p:sp>
      <p:sp>
        <p:nvSpPr>
          <p:cNvPr id="2" name="">
            <a:extLst xmlns:a="http://schemas.openxmlformats.org/drawingml/2006/main">
              <a:ext uri="{FF2B5EF4-FFF2-40B4-BE49-F238E27FC236}">
                <a16:creationId xmlns:a16="http://schemas.microsoft.com/office/drawing/2014/main" id="{376967F9-155C-48EE-BB9A-572EB263B80C}"/>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11079181-076E-422B-9A1F-85D513B02429}"/>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3 / 5</a:t>
            </a:r>
          </a:p>
        </p:txBody>
      </p:sp>
      <p:sp>
        <p:nvSpPr>
          <p:cNvPr id="4" name="">
            <a:extLst xmlns:a="http://schemas.openxmlformats.org/drawingml/2006/main">
              <a:ext uri="{FF2B5EF4-FFF2-40B4-BE49-F238E27FC236}">
                <a16:creationId xmlns:a16="http://schemas.microsoft.com/office/drawing/2014/main" id="{83BE52E1-14CD-4ECD-AF71-B81643B22E9E}"/>
              </a:ext>
            </a:extLst>
          </p:cNvPr>
          <p:cNvSpPr>
            <a:spLocks xmlns:a="http://schemas.openxmlformats.org/drawingml/2006/main" noGrp="1"/>
          </p:cNvSpPr>
          <p:nvPr/>
        </p:nvSpPr>
        <p:spPr>
          <a:xfrm xmlns:a="http://schemas.openxmlformats.org/drawingml/2006/main">
            <a:off x="704850" y="13620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86224"/>
                </a:solidFill>
                <a:latin typeface="Arial"/>
                <a:ea typeface="Arial"/>
                <a:cs typeface="Arial"/>
              </a:defRPr>
            </a:pPr>
            <a:r>
              <a:rPr sz="1875" b="1">
                <a:solidFill>
                  <a:srgbClr val="986224"/>
                </a:solidFill>
                <a:latin typeface="Arial"/>
                <a:ea typeface="Arial"/>
                <a:cs typeface="Arial"/>
              </a:rPr>
              <a:t>A real shop rehearsal completed on this laptop</a:t>
            </a:r>
          </a:p>
        </p:txBody>
      </p:sp>
      <p:sp>
        <p:nvSpPr>
          <p:cNvPr id="5" name="">
            <a:extLst xmlns:a="http://schemas.openxmlformats.org/drawingml/2006/main">
              <a:ext uri="{FF2B5EF4-FFF2-40B4-BE49-F238E27FC236}">
                <a16:creationId xmlns:a16="http://schemas.microsoft.com/office/drawing/2014/main" id="{45D1BF5F-821F-4E72-903D-643BFD72F5A2}"/>
              </a:ext>
            </a:extLst>
          </p:cNvPr>
          <p:cNvSpPr>
            <a:spLocks xmlns:a="http://schemas.openxmlformats.org/drawingml/2006/main" noGrp="1"/>
          </p:cNvSpPr>
          <p:nvPr/>
        </p:nvSpPr>
        <p:spPr>
          <a:xfrm xmlns:a="http://schemas.openxmlformats.org/drawingml/2006/main">
            <a:off x="704850" y="21240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CUSTOMER TAB</a:t>
            </a:r>
          </a:p>
        </p:txBody>
      </p:sp>
      <p:sp>
        <p:nvSpPr>
          <p:cNvPr id="6" name="">
            <a:extLst xmlns:a="http://schemas.openxmlformats.org/drawingml/2006/main">
              <a:ext uri="{FF2B5EF4-FFF2-40B4-BE49-F238E27FC236}">
                <a16:creationId xmlns:a16="http://schemas.microsoft.com/office/drawing/2014/main" id="{C1F921FD-A58B-460C-910B-988DC7391796}"/>
              </a:ext>
            </a:extLst>
          </p:cNvPr>
          <p:cNvSpPr>
            <a:spLocks xmlns:a="http://schemas.openxmlformats.org/drawingml/2006/main" noGrp="1"/>
          </p:cNvSpPr>
          <p:nvPr/>
        </p:nvSpPr>
        <p:spPr>
          <a:xfrm xmlns:a="http://schemas.openxmlformats.org/drawingml/2006/main">
            <a:off x="704850" y="2638425"/>
            <a:ext cx="54483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“Can you help me check whether</a:t>
            </a:r>
          </a:p>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a shop has an item in stock?”</a:t>
            </a:r>
          </a:p>
        </p:txBody>
      </p:sp>
      <p:sp>
        <p:nvSpPr>
          <p:cNvPr id="7" name="">
            <a:extLst xmlns:a="http://schemas.openxmlformats.org/drawingml/2006/main">
              <a:ext uri="{FF2B5EF4-FFF2-40B4-BE49-F238E27FC236}">
                <a16:creationId xmlns:a16="http://schemas.microsoft.com/office/drawing/2014/main" id="{7C00BEAA-E4DD-494A-9AE4-ACFB1069740D}"/>
              </a:ext>
            </a:extLst>
          </p:cNvPr>
          <p:cNvSpPr>
            <a:spLocks xmlns:a="http://schemas.openxmlformats.org/drawingml/2006/main" noGrp="1"/>
          </p:cNvSpPr>
          <p:nvPr/>
        </p:nvSpPr>
        <p:spPr>
          <a:xfrm xmlns:a="http://schemas.openxmlformats.org/drawingml/2006/main">
            <a:off x="704850" y="3648075"/>
            <a:ext cx="5381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Answer the AI’s questions.</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Review the plan and authorize.</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Reply to unknown details in chat.</a:t>
            </a:r>
          </a:p>
        </p:txBody>
      </p:sp>
      <p:sp>
        <p:nvSpPr>
          <p:cNvPr id="8" name="">
            <a:extLst xmlns:a="http://schemas.openxmlformats.org/drawingml/2006/main">
              <a:ext uri="{FF2B5EF4-FFF2-40B4-BE49-F238E27FC236}">
                <a16:creationId xmlns:a16="http://schemas.microsoft.com/office/drawing/2014/main" id="{D707430F-2747-46EF-AA9E-B165EABE7917}"/>
              </a:ext>
            </a:extLst>
          </p:cNvPr>
          <p:cNvSpPr>
            <a:spLocks xmlns:a="http://schemas.openxmlformats.org/drawingml/2006/main" noGrp="1"/>
          </p:cNvSpPr>
          <p:nvPr/>
        </p:nvSpPr>
        <p:spPr>
          <a:xfrm xmlns:a="http://schemas.openxmlformats.org/drawingml/2006/main">
            <a:off x="6800850" y="2124075"/>
            <a:ext cx="4695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BUSINESS TAB</a:t>
            </a:r>
          </a:p>
        </p:txBody>
      </p:sp>
      <p:sp>
        <p:nvSpPr>
          <p:cNvPr id="9" name="">
            <a:extLst xmlns:a="http://schemas.openxmlformats.org/drawingml/2006/main">
              <a:ext uri="{FF2B5EF4-FFF2-40B4-BE49-F238E27FC236}">
                <a16:creationId xmlns:a16="http://schemas.microsoft.com/office/drawing/2014/main" id="{A8252E23-EF0C-4BA4-B050-1E377C0086AE}"/>
              </a:ext>
            </a:extLst>
          </p:cNvPr>
          <p:cNvSpPr>
            <a:spLocks xmlns:a="http://schemas.openxmlformats.org/drawingml/2006/main" noGrp="1"/>
          </p:cNvSpPr>
          <p:nvPr/>
        </p:nvSpPr>
        <p:spPr>
          <a:xfrm xmlns:a="http://schemas.openxmlformats.org/drawingml/2006/main">
            <a:off x="6800850" y="2638425"/>
            <a:ext cx="468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Inactive until authorized</a:t>
            </a:r>
          </a:p>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and accepted</a:t>
            </a:r>
          </a:p>
        </p:txBody>
      </p:sp>
      <p:sp>
        <p:nvSpPr>
          <p:cNvPr id="10" name="">
            <a:extLst xmlns:a="http://schemas.openxmlformats.org/drawingml/2006/main">
              <a:ext uri="{FF2B5EF4-FFF2-40B4-BE49-F238E27FC236}">
                <a16:creationId xmlns:a16="http://schemas.microsoft.com/office/drawing/2014/main" id="{9F1B9848-10EB-475E-83FA-805CD2EFA200}"/>
              </a:ext>
            </a:extLst>
          </p:cNvPr>
          <p:cNvSpPr>
            <a:spLocks xmlns:a="http://schemas.openxmlformats.org/drawingml/2006/main" noGrp="1"/>
          </p:cNvSpPr>
          <p:nvPr/>
        </p:nvSpPr>
        <p:spPr>
          <a:xfrm xmlns:a="http://schemas.openxmlformats.org/drawingml/2006/main">
            <a:off x="6800850" y="3686175"/>
            <a:ext cx="4686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The teammate accepts the call.</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Speak Korean through the laptop’s</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microphone and speaker.</a:t>
            </a:r>
          </a:p>
        </p:txBody>
      </p:sp>
      <p:sp>
        <p:nvSpPr>
          <p:cNvPr id="11" name="">
            <a:extLst xmlns:a="http://schemas.openxmlformats.org/drawingml/2006/main">
              <a:ext uri="{FF2B5EF4-FFF2-40B4-BE49-F238E27FC236}">
                <a16:creationId xmlns:a16="http://schemas.microsoft.com/office/drawing/2014/main" id="{86C45B25-CCFE-40E4-B995-9840649BC8F9}"/>
              </a:ext>
            </a:extLst>
          </p:cNvPr>
          <p:cNvSpPr>
            <a:spLocks xmlns:a="http://schemas.openxmlformats.org/drawingml/2006/main" noGrp="1"/>
          </p:cNvSpPr>
          <p:nvPr/>
        </p:nvSpPr>
        <p:spPr>
          <a:xfrm xmlns:a="http://schemas.openxmlformats.org/drawingml/2006/main">
            <a:off x="704850" y="5172075"/>
            <a:ext cx="10753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Navy is known. Whether black is acceptable is still unknown.</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The live relay returned the answer in Korean and the call completed.</a:t>
            </a:r>
          </a:p>
        </p:txBody>
      </p:sp>
      <p:sp>
        <p:nvSpPr>
          <p:cNvPr id="12" name="">
            <a:extLst xmlns:a="http://schemas.openxmlformats.org/drawingml/2006/main">
              <a:ext uri="{FF2B5EF4-FFF2-40B4-BE49-F238E27FC236}">
                <a16:creationId xmlns:a16="http://schemas.microsoft.com/office/drawing/2014/main" id="{F3A1AF16-0B5D-43EC-A9FF-545BABE2FFFE}"/>
              </a:ext>
            </a:extLst>
          </p:cNvPr>
          <p:cNvSpPr>
            <a:spLocks xmlns:a="http://schemas.openxmlformats.org/drawingml/2006/main" noGrp="1"/>
          </p:cNvSpPr>
          <p:nvPr/>
        </p:nvSpPr>
        <p:spPr>
          <a:xfrm xmlns:a="http://schemas.openxmlformats.org/drawingml/2006/main">
            <a:off x="704850" y="5943600"/>
            <a:ext cx="10753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Completion requires every required answer and a confirmed readback.</a:t>
            </a:r>
          </a:p>
        </p:txBody>
      </p:sp>
    </p:spTree>
    <p:extLst>
      <p:ext uri="{BB962C8B-B14F-4D97-AF65-F5344CB8AC3E}">
        <p14:creationId xmlns:p14="http://schemas.microsoft.com/office/powerpoint/2010/main" val="461601629"/>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EED64D-9850-4C3A-8C65-4FFF17732F2B}"/>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Codex work and verification</a:t>
            </a:r>
          </a:p>
        </p:txBody>
      </p:sp>
      <p:sp>
        <p:nvSpPr>
          <p:cNvPr id="2" name="">
            <a:extLst xmlns:a="http://schemas.openxmlformats.org/drawingml/2006/main">
              <a:ext uri="{FF2B5EF4-FFF2-40B4-BE49-F238E27FC236}">
                <a16:creationId xmlns:a16="http://schemas.microsoft.com/office/drawing/2014/main" id="{58C420A3-8816-4474-AC19-7E35542FB517}"/>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08FA7000-DFD9-41C6-B6B0-3317F01272CE}"/>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4 / 5</a:t>
            </a:r>
          </a:p>
        </p:txBody>
      </p:sp>
      <p:sp>
        <p:nvSpPr>
          <p:cNvPr id="4" name="">
            <a:extLst xmlns:a="http://schemas.openxmlformats.org/drawingml/2006/main">
              <a:ext uri="{FF2B5EF4-FFF2-40B4-BE49-F238E27FC236}">
                <a16:creationId xmlns:a16="http://schemas.microsoft.com/office/drawing/2014/main" id="{6D8DE4BC-1C39-4145-8317-954A320B975C}"/>
              </a:ext>
            </a:extLst>
          </p:cNvPr>
          <p:cNvSpPr>
            <a:spLocks xmlns:a="http://schemas.openxmlformats.org/drawingml/2006/main" noGrp="1"/>
          </p:cNvSpPr>
          <p:nvPr/>
        </p:nvSpPr>
        <p:spPr>
          <a:xfrm xmlns:a="http://schemas.openxmlformats.org/drawingml/2006/main">
            <a:off x="704850" y="14954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B5147"/>
                </a:solidFill>
                <a:latin typeface="Arial"/>
                <a:ea typeface="Arial"/>
                <a:cs typeface="Arial"/>
              </a:defRPr>
            </a:pPr>
            <a:r>
              <a:rPr sz="2250" b="1">
                <a:solidFill>
                  <a:srgbClr val="1B5147"/>
                </a:solidFill>
                <a:latin typeface="Arial"/>
                <a:ea typeface="Arial"/>
                <a:cs typeface="Arial"/>
              </a:rPr>
              <a:t>Codex built the chat, call state, and test harnesses</a:t>
            </a:r>
          </a:p>
        </p:txBody>
      </p:sp>
      <p:sp>
        <p:nvSpPr>
          <p:cNvPr id="5" name="">
            <a:extLst xmlns:a="http://schemas.openxmlformats.org/drawingml/2006/main">
              <a:ext uri="{FF2B5EF4-FFF2-40B4-BE49-F238E27FC236}">
                <a16:creationId xmlns:a16="http://schemas.microsoft.com/office/drawing/2014/main" id="{1122F517-C3EE-45CD-BF70-1436AC78844C}"/>
              </a:ext>
            </a:extLst>
          </p:cNvPr>
          <p:cNvSpPr>
            <a:spLocks xmlns:a="http://schemas.openxmlformats.org/drawingml/2006/main" noGrp="1"/>
          </p:cNvSpPr>
          <p:nvPr/>
        </p:nvSpPr>
        <p:spPr>
          <a:xfrm xmlns:a="http://schemas.openxmlformats.org/drawingml/2006/main">
            <a:off x="704850" y="19526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67 unit and 30 HTTP checks passed. Mocked browser checks:</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20 customer, 19 business and 32 design checks passed.</a:t>
            </a:r>
          </a:p>
        </p:txBody>
      </p:sp>
      <p:sp>
        <p:nvSpPr>
          <p:cNvPr id="6" name="">
            <a:extLst xmlns:a="http://schemas.openxmlformats.org/drawingml/2006/main">
              <a:ext uri="{FF2B5EF4-FFF2-40B4-BE49-F238E27FC236}">
                <a16:creationId xmlns:a16="http://schemas.microsoft.com/office/drawing/2014/main" id="{CACFDDD8-9F5A-4B67-B9BB-D43381960063}"/>
              </a:ext>
            </a:extLst>
          </p:cNvPr>
          <p:cNvSpPr>
            <a:spLocks xmlns:a="http://schemas.openxmlformats.org/drawingml/2006/main" noGrp="1"/>
          </p:cNvSpPr>
          <p:nvPr/>
        </p:nvSpPr>
        <p:spPr>
          <a:xfrm xmlns:a="http://schemas.openxmlformats.org/drawingml/2006/main">
            <a:off x="704850" y="272415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Automated checks are separate from the actual microphone rehearsal.</a:t>
            </a:r>
          </a:p>
        </p:txBody>
      </p:sp>
      <p:sp>
        <p:nvSpPr>
          <p:cNvPr id="7" name="">
            <a:extLst xmlns:a="http://schemas.openxmlformats.org/drawingml/2006/main">
              <a:ext uri="{FF2B5EF4-FFF2-40B4-BE49-F238E27FC236}">
                <a16:creationId xmlns:a16="http://schemas.microsoft.com/office/drawing/2014/main" id="{9BEAE10E-D0A5-46F9-B039-170738DD78CD}"/>
              </a:ext>
            </a:extLst>
          </p:cNvPr>
          <p:cNvSpPr>
            <a:spLocks xmlns:a="http://schemas.openxmlformats.org/drawingml/2006/main" noGrp="1"/>
          </p:cNvSpPr>
          <p:nvPr/>
        </p:nvSpPr>
        <p:spPr>
          <a:xfrm xmlns:a="http://schemas.openxmlformats.org/drawingml/2006/main">
            <a:off x="704850" y="33242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Latest shop voice attempt: Completed</a:t>
            </a:r>
          </a:p>
        </p:txBody>
      </p:sp>
      <p:sp>
        <p:nvSpPr>
          <p:cNvPr id="8" name="">
            <a:extLst xmlns:a="http://schemas.openxmlformats.org/drawingml/2006/main">
              <a:ext uri="{FF2B5EF4-FFF2-40B4-BE49-F238E27FC236}">
                <a16:creationId xmlns:a16="http://schemas.microsoft.com/office/drawing/2014/main" id="{153E67D6-F7EC-4423-AA06-BC790B7CE593}"/>
              </a:ext>
            </a:extLst>
          </p:cNvPr>
          <p:cNvSpPr>
            <a:spLocks xmlns:a="http://schemas.openxmlformats.org/drawingml/2006/main" noGrp="1"/>
          </p:cNvSpPr>
          <p:nvPr/>
        </p:nvSpPr>
        <p:spPr>
          <a:xfrm xmlns:a="http://schemas.openxmlformats.org/drawingml/2006/main">
            <a:off x="704850" y="38004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Offered black instead of navy → customer accepted in chat.</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Korean return → ₩10,000 → pickup by 7 PM → confirmed ending.</a:t>
            </a:r>
          </a:p>
        </p:txBody>
      </p:sp>
      <p:sp>
        <p:nvSpPr>
          <p:cNvPr id="9" name="">
            <a:extLst xmlns:a="http://schemas.openxmlformats.org/drawingml/2006/main">
              <a:ext uri="{FF2B5EF4-FFF2-40B4-BE49-F238E27FC236}">
                <a16:creationId xmlns:a16="http://schemas.microsoft.com/office/drawing/2014/main" id="{3EFA6CF8-5FF8-4B60-901C-BFE5D0BC0E48}"/>
              </a:ext>
            </a:extLst>
          </p:cNvPr>
          <p:cNvSpPr>
            <a:spLocks xmlns:a="http://schemas.openxmlformats.org/drawingml/2006/main" noGrp="1"/>
          </p:cNvSpPr>
          <p:nvPr/>
        </p:nvSpPr>
        <p:spPr>
          <a:xfrm xmlns:a="http://schemas.openxmlformats.org/drawingml/2006/main">
            <a:off x="704850" y="50101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986224"/>
                </a:solidFill>
                <a:latin typeface="Arial"/>
                <a:ea typeface="Arial"/>
                <a:cs typeface="Arial"/>
              </a:defRPr>
            </a:pPr>
            <a:r>
              <a:rPr sz="2325" b="1">
                <a:solidFill>
                  <a:srgbClr val="986224"/>
                </a:solidFill>
                <a:latin typeface="Arial"/>
                <a:ea typeface="Arial"/>
                <a:cs typeface="Arial"/>
              </a:rPr>
              <a:t>Real microphone flow observed</a:t>
            </a:r>
          </a:p>
        </p:txBody>
      </p:sp>
      <p:sp>
        <p:nvSpPr>
          <p:cNvPr id="10" name="">
            <a:extLst xmlns:a="http://schemas.openxmlformats.org/drawingml/2006/main">
              <a:ext uri="{FF2B5EF4-FFF2-40B4-BE49-F238E27FC236}">
                <a16:creationId xmlns:a16="http://schemas.microsoft.com/office/drawing/2014/main" id="{57B7007C-AE8F-4A7F-83EB-AED77A720950}"/>
              </a:ext>
            </a:extLst>
          </p:cNvPr>
          <p:cNvSpPr>
            <a:spLocks xmlns:a="http://schemas.openxmlformats.org/drawingml/2006/main" noGrp="1"/>
          </p:cNvSpPr>
          <p:nvPr/>
        </p:nvSpPr>
        <p:spPr>
          <a:xfrm xmlns:a="http://schemas.openxmlformats.org/drawingml/2006/main">
            <a:off x="704850" y="5486400"/>
            <a:ext cx="10763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The teammate confirmed Korean audio and microphone shutdown.</a:t>
            </a:r>
          </a:p>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One price fragment needed clarification. User value is unverified.</a:t>
            </a:r>
          </a:p>
        </p:txBody>
      </p:sp>
    </p:spTree>
    <p:extLst>
      <p:ext uri="{BB962C8B-B14F-4D97-AF65-F5344CB8AC3E}">
        <p14:creationId xmlns:p14="http://schemas.microsoft.com/office/powerpoint/2010/main" val="592779751"/>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4CAAE1-A139-44C2-B9C7-1EDAC1BFDFC8}"/>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Value hypothesis and scope</a:t>
            </a:r>
          </a:p>
        </p:txBody>
      </p:sp>
      <p:sp>
        <p:nvSpPr>
          <p:cNvPr id="2" name="">
            <a:extLst xmlns:a="http://schemas.openxmlformats.org/drawingml/2006/main">
              <a:ext uri="{FF2B5EF4-FFF2-40B4-BE49-F238E27FC236}">
                <a16:creationId xmlns:a16="http://schemas.microsoft.com/office/drawing/2014/main" id="{78EFDEB0-E023-4098-91A2-63445FE2520F}"/>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C5E5034A-D3C1-4359-81E1-5C50BEE06343}"/>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5 / 5</a:t>
            </a:r>
          </a:p>
        </p:txBody>
      </p:sp>
      <p:sp>
        <p:nvSpPr>
          <p:cNvPr id="4" name="">
            <a:extLst xmlns:a="http://schemas.openxmlformats.org/drawingml/2006/main">
              <a:ext uri="{FF2B5EF4-FFF2-40B4-BE49-F238E27FC236}">
                <a16:creationId xmlns:a16="http://schemas.microsoft.com/office/drawing/2014/main" id="{B87A34DD-DB87-4652-AFA0-84F66403123F}"/>
              </a:ext>
            </a:extLst>
          </p:cNvPr>
          <p:cNvSpPr>
            <a:spLocks xmlns:a="http://schemas.openxmlformats.org/drawingml/2006/main" noGrp="1"/>
          </p:cNvSpPr>
          <p:nvPr/>
        </p:nvSpPr>
        <p:spPr>
          <a:xfrm xmlns:a="http://schemas.openxmlformats.org/drawingml/2006/main">
            <a:off x="704850" y="1704975"/>
            <a:ext cx="108108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Can a text conversation reduce the barrier</a:t>
            </a:r>
          </a:p>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to getting help from a Korean business?</a:t>
            </a:r>
          </a:p>
        </p:txBody>
      </p:sp>
      <p:sp>
        <p:nvSpPr>
          <p:cNvPr id="5" name="">
            <a:extLst xmlns:a="http://schemas.openxmlformats.org/drawingml/2006/main">
              <a:ext uri="{FF2B5EF4-FFF2-40B4-BE49-F238E27FC236}">
                <a16:creationId xmlns:a16="http://schemas.microsoft.com/office/drawing/2014/main" id="{C9286E87-F621-4E8A-9305-CD05B0351214}"/>
              </a:ext>
            </a:extLst>
          </p:cNvPr>
          <p:cNvSpPr>
            <a:spLocks xmlns:a="http://schemas.openxmlformats.org/drawingml/2006/main" noGrp="1"/>
          </p:cNvSpPr>
          <p:nvPr/>
        </p:nvSpPr>
        <p:spPr>
          <a:xfrm xmlns:a="http://schemas.openxmlformats.org/drawingml/2006/main">
            <a:off x="704850" y="34004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986224"/>
                </a:solidFill>
                <a:latin typeface="Arial"/>
                <a:ea typeface="Arial"/>
                <a:cs typeface="Arial"/>
              </a:defRPr>
            </a:pPr>
            <a:r>
              <a:rPr sz="3225" b="1">
                <a:solidFill>
                  <a:srgbClr val="986224"/>
                </a:solidFill>
                <a:latin typeface="Arial"/>
                <a:ea typeface="Arial"/>
                <a:cs typeface="Arial"/>
              </a:rPr>
              <a:t>User value: Unverified</a:t>
            </a:r>
          </a:p>
        </p:txBody>
      </p:sp>
      <p:sp>
        <p:nvSpPr>
          <p:cNvPr id="6" name="">
            <a:extLst xmlns:a="http://schemas.openxmlformats.org/drawingml/2006/main">
              <a:ext uri="{FF2B5EF4-FFF2-40B4-BE49-F238E27FC236}">
                <a16:creationId xmlns:a16="http://schemas.microsoft.com/office/drawing/2014/main" id="{4302F309-3D57-4038-9A94-52C829986CA9}"/>
              </a:ext>
            </a:extLst>
          </p:cNvPr>
          <p:cNvSpPr>
            <a:spLocks xmlns:a="http://schemas.openxmlformats.org/drawingml/2006/main" noGrp="1"/>
          </p:cNvSpPr>
          <p:nvPr/>
        </p:nvSpPr>
        <p:spPr>
          <a:xfrm xmlns:a="http://schemas.openxmlformats.org/drawingml/2006/main">
            <a:off x="704850" y="40767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No feedback from actual target users has been collected.</a:t>
            </a:r>
          </a:p>
        </p:txBody>
      </p:sp>
      <p:sp>
        <p:nvSpPr>
          <p:cNvPr id="7" name="">
            <a:extLst xmlns:a="http://schemas.openxmlformats.org/drawingml/2006/main">
              <a:ext uri="{FF2B5EF4-FFF2-40B4-BE49-F238E27FC236}">
                <a16:creationId xmlns:a16="http://schemas.microsoft.com/office/drawing/2014/main" id="{15D250BF-E7BB-41AE-A0EF-370278D2538B}"/>
              </a:ext>
            </a:extLst>
          </p:cNvPr>
          <p:cNvSpPr>
            <a:spLocks xmlns:a="http://schemas.openxmlformats.org/drawingml/2006/main" noGrp="1"/>
          </p:cNvSpPr>
          <p:nvPr/>
        </p:nvSpPr>
        <p:spPr>
          <a:xfrm xmlns:a="http://schemas.openxmlformats.org/drawingml/2006/main">
            <a:off x="704850" y="4953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Today’s scope</a:t>
            </a:r>
          </a:p>
        </p:txBody>
      </p:sp>
      <p:sp>
        <p:nvSpPr>
          <p:cNvPr id="8" name="">
            <a:extLst xmlns:a="http://schemas.openxmlformats.org/drawingml/2006/main">
              <a:ext uri="{FF2B5EF4-FFF2-40B4-BE49-F238E27FC236}">
                <a16:creationId xmlns:a16="http://schemas.microsoft.com/office/drawing/2014/main" id="{1E504FA3-E22C-4A3B-8EE3-C180EA5E350D}"/>
              </a:ext>
            </a:extLst>
          </p:cNvPr>
          <p:cNvSpPr>
            <a:spLocks xmlns:a="http://schemas.openxmlformats.org/drawingml/2006/main" noGrp="1"/>
          </p:cNvSpPr>
          <p:nvPr/>
        </p:nvSpPr>
        <p:spPr>
          <a:xfrm xmlns:a="http://schemas.openxmlformats.org/drawingml/2006/main">
            <a:off x="704850" y="5429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Fictional institutions. Simulated calls in two laptop tabs.</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No real calls, real discovery, or reception/doctor sheets.</a:t>
            </a:r>
          </a:p>
        </p:txBody>
      </p:sp>
    </p:spTree>
    <p:extLst>
      <p:ext uri="{BB962C8B-B14F-4D97-AF65-F5344CB8AC3E}">
        <p14:creationId xmlns:p14="http://schemas.microsoft.com/office/powerpoint/2010/main" val="7651279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2026-09-29T07:07:56.6310000Z</dcterms:created>
  <dcterms:modified xsi:type="dcterms:W3CDTF">2026-09-29T07:07:56.6310000Z</dcterms:modified>
</coreProperties>
</file>